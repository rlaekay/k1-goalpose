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279a1805da4c63" /><Relationship Type="http://schemas.openxmlformats.org/officeDocument/2006/relationships/extended-properties" Target="/docProps/app.xml" Id="R52d270229fdb44bc" /><Relationship Type="http://schemas.openxmlformats.org/officeDocument/2006/relationships/officeDocument" Target="/ppt/presentation.xml" Id="R0eb1875bf7e540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0abf692c0d45e2"/>
  </p:sldMasterIdLst>
  <p:notesMasterIdLst>
    <p:notesMasterId xmlns:r="http://schemas.openxmlformats.org/officeDocument/2006/relationships" r:id="Rc7f1b4e6b4604502"/>
  </p:notesMasterIdLst>
  <p:sldIdLst>
    <p:sldId xmlns:r="http://schemas.openxmlformats.org/officeDocument/2006/relationships" id="256" r:id="R8636c10dcd9a48ac"/>
    <p:sldId xmlns:r="http://schemas.openxmlformats.org/officeDocument/2006/relationships" id="257" r:id="R0893ec6822c64364"/>
    <p:sldId xmlns:r="http://schemas.openxmlformats.org/officeDocument/2006/relationships" id="258" r:id="Rf6b1c30803a4441e"/>
    <p:sldId xmlns:r="http://schemas.openxmlformats.org/officeDocument/2006/relationships" id="259" r:id="R35b476ef0b074922"/>
    <p:sldId xmlns:r="http://schemas.openxmlformats.org/officeDocument/2006/relationships" id="260" r:id="Re8180a7cdc4a452b"/>
    <p:sldId xmlns:r="http://schemas.openxmlformats.org/officeDocument/2006/relationships" id="261" r:id="Rfbb7ecaa01ad45a6"/>
    <p:sldId xmlns:r="http://schemas.openxmlformats.org/officeDocument/2006/relationships" id="262" r:id="R7a724beaf56a4209"/>
    <p:sldId xmlns:r="http://schemas.openxmlformats.org/officeDocument/2006/relationships" id="263" r:id="R42ae39d6ad394287"/>
    <p:sldId xmlns:r="http://schemas.openxmlformats.org/officeDocument/2006/relationships" id="264" r:id="Rfdf13c522e0344ea"/>
    <p:sldId xmlns:r="http://schemas.openxmlformats.org/officeDocument/2006/relationships" id="265" r:id="R7dff0c8dde204a26"/>
    <p:sldId xmlns:r="http://schemas.openxmlformats.org/officeDocument/2006/relationships" id="266" r:id="R9efe90def1a74d44"/>
    <p:sldId xmlns:r="http://schemas.openxmlformats.org/officeDocument/2006/relationships" id="267" r:id="R9313dc14ceb24f37"/>
    <p:sldId xmlns:r="http://schemas.openxmlformats.org/officeDocument/2006/relationships" id="268" r:id="R4a551b2c0eb044f8"/>
    <p:sldId xmlns:r="http://schemas.openxmlformats.org/officeDocument/2006/relationships" id="269" r:id="R8e50552deb944055"/>
    <p:sldId xmlns:r="http://schemas.openxmlformats.org/officeDocument/2006/relationships" id="270" r:id="R593b03d831f64a46"/>
    <p:sldId xmlns:r="http://schemas.openxmlformats.org/officeDocument/2006/relationships" id="271" r:id="R68070f1625d24492"/>
    <p:sldId xmlns:r="http://schemas.openxmlformats.org/officeDocument/2006/relationships" id="272" r:id="Rcec671634d9f4189"/>
    <p:sldId xmlns:r="http://schemas.openxmlformats.org/officeDocument/2006/relationships" id="273" r:id="Rf8d83f95b67d4276"/>
    <p:sldId xmlns:r="http://schemas.openxmlformats.org/officeDocument/2006/relationships" id="274" r:id="Rfc11fa9302be4d22"/>
    <p:sldId xmlns:r="http://schemas.openxmlformats.org/officeDocument/2006/relationships" id="275" r:id="R525cebceeda444ad"/>
    <p:sldId xmlns:r="http://schemas.openxmlformats.org/officeDocument/2006/relationships" id="276" r:id="Rf41e74fa29ea4c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039ca95c3e4e0b" /><Relationship Type="http://schemas.openxmlformats.org/officeDocument/2006/relationships/slideMaster" Target="/ppt/slideMasters/slideMaster1.xml" Id="R840abf692c0d45e2" /><Relationship Type="http://schemas.openxmlformats.org/officeDocument/2006/relationships/notesMaster" Target="/ppt/notesMasters/notesMaster1.xml" Id="Rc7f1b4e6b4604502" /><Relationship Type="http://schemas.openxmlformats.org/officeDocument/2006/relationships/presProps" Target="/ppt/presProps.xml" Id="Rbd75f574c70d47c7" /><Relationship Type="http://schemas.openxmlformats.org/officeDocument/2006/relationships/tableStyles" Target="/ppt/tableStyles.xml" Id="R447bdb277ca94cdf" /><Relationship Type="http://schemas.openxmlformats.org/officeDocument/2006/relationships/slide" Target="/ppt/slides/slide1.xml" Id="R8636c10dcd9a48ac" /><Relationship Type="http://schemas.openxmlformats.org/officeDocument/2006/relationships/slide" Target="/ppt/slides/slide2.xml" Id="R0893ec6822c64364" /><Relationship Type="http://schemas.openxmlformats.org/officeDocument/2006/relationships/slide" Target="/ppt/slides/slide3.xml" Id="Rf6b1c30803a4441e" /><Relationship Type="http://schemas.openxmlformats.org/officeDocument/2006/relationships/slide" Target="/ppt/slides/slide4.xml" Id="R35b476ef0b074922" /><Relationship Type="http://schemas.openxmlformats.org/officeDocument/2006/relationships/slide" Target="/ppt/slides/slide5.xml" Id="Re8180a7cdc4a452b" /><Relationship Type="http://schemas.openxmlformats.org/officeDocument/2006/relationships/slide" Target="/ppt/slides/slide6.xml" Id="Rfbb7ecaa01ad45a6" /><Relationship Type="http://schemas.openxmlformats.org/officeDocument/2006/relationships/slide" Target="/ppt/slides/slide7.xml" Id="R7a724beaf56a4209" /><Relationship Type="http://schemas.openxmlformats.org/officeDocument/2006/relationships/slide" Target="/ppt/slides/slide8.xml" Id="R42ae39d6ad394287" /><Relationship Type="http://schemas.openxmlformats.org/officeDocument/2006/relationships/slide" Target="/ppt/slides/slide9.xml" Id="Rfdf13c522e0344ea" /><Relationship Type="http://schemas.openxmlformats.org/officeDocument/2006/relationships/slide" Target="/ppt/slides/slide10.xml" Id="R7dff0c8dde204a26" /><Relationship Type="http://schemas.openxmlformats.org/officeDocument/2006/relationships/slide" Target="/ppt/slides/slide11.xml" Id="R9efe90def1a74d44" /><Relationship Type="http://schemas.openxmlformats.org/officeDocument/2006/relationships/slide" Target="/ppt/slides/slide12.xml" Id="R9313dc14ceb24f37" /><Relationship Type="http://schemas.openxmlformats.org/officeDocument/2006/relationships/slide" Target="/ppt/slides/slide13.xml" Id="R4a551b2c0eb044f8" /><Relationship Type="http://schemas.openxmlformats.org/officeDocument/2006/relationships/slide" Target="/ppt/slides/slide14.xml" Id="R8e50552deb944055" /><Relationship Type="http://schemas.openxmlformats.org/officeDocument/2006/relationships/slide" Target="/ppt/slides/slide15.xml" Id="R593b03d831f64a46" /><Relationship Type="http://schemas.openxmlformats.org/officeDocument/2006/relationships/slide" Target="/ppt/slides/slide16.xml" Id="R68070f1625d24492" /><Relationship Type="http://schemas.openxmlformats.org/officeDocument/2006/relationships/slide" Target="/ppt/slides/slide17.xml" Id="Rcec671634d9f4189" /><Relationship Type="http://schemas.openxmlformats.org/officeDocument/2006/relationships/slide" Target="/ppt/slides/slide18.xml" Id="Rf8d83f95b67d4276" /><Relationship Type="http://schemas.openxmlformats.org/officeDocument/2006/relationships/slide" Target="/ppt/slides/slide19.xml" Id="Rfc11fa9302be4d22" /><Relationship Type="http://schemas.openxmlformats.org/officeDocument/2006/relationships/slide" Target="/ppt/slides/slide20.xml" Id="R525cebceeda444ad" /><Relationship Type="http://schemas.openxmlformats.org/officeDocument/2006/relationships/slide" Target="/ppt/slides/slide21.xml" Id="Rf41e74fa29ea4c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3fe6e6e01142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37e80d2853425b" /><Relationship Type="http://schemas.openxmlformats.org/officeDocument/2006/relationships/notesMaster" Target="/ppt/notesMasters/notesMaster1.xml" Id="Rda7013922e5d42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b04b95add64783" /><Relationship Type="http://schemas.openxmlformats.org/officeDocument/2006/relationships/notesMaster" Target="/ppt/notesMasters/notesMaster1.xml" Id="R171cd75355074a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dd9fb94adc4d13" /><Relationship Type="http://schemas.openxmlformats.org/officeDocument/2006/relationships/notesMaster" Target="/ppt/notesMasters/notesMaster1.xml" Id="Rd274cc06beaa43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ae3e69735a44b2" /><Relationship Type="http://schemas.openxmlformats.org/officeDocument/2006/relationships/notesMaster" Target="/ppt/notesMasters/notesMaster1.xml" Id="R42e178f68c1b48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6e470aea3c4a5f" /><Relationship Type="http://schemas.openxmlformats.org/officeDocument/2006/relationships/notesMaster" Target="/ppt/notesMasters/notesMaster1.xml" Id="R9b1f99f040c343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646c8937994fed" /><Relationship Type="http://schemas.openxmlformats.org/officeDocument/2006/relationships/notesMaster" Target="/ppt/notesMasters/notesMaster1.xml" Id="Rd891953414694b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30271820d9452f" /><Relationship Type="http://schemas.openxmlformats.org/officeDocument/2006/relationships/notesMaster" Target="/ppt/notesMasters/notesMaster1.xml" Id="Rfd729a593ab546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dcac09b23a4468" /><Relationship Type="http://schemas.openxmlformats.org/officeDocument/2006/relationships/notesMaster" Target="/ppt/notesMasters/notesMaster1.xml" Id="Re1bc255ea35441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38a2a6283e42e3" /><Relationship Type="http://schemas.openxmlformats.org/officeDocument/2006/relationships/notesMaster" Target="/ppt/notesMasters/notesMaster1.xml" Id="R94a777735e3543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81100665264c21" /><Relationship Type="http://schemas.openxmlformats.org/officeDocument/2006/relationships/notesMaster" Target="/ppt/notesMasters/notesMaster1.xml" Id="R1da25705aacf43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4c89c65dde47d5" /><Relationship Type="http://schemas.openxmlformats.org/officeDocument/2006/relationships/notesMaster" Target="/ppt/notesMasters/notesMaster1.xml" Id="R9a3f729accd94d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0090c30f3947fd" /><Relationship Type="http://schemas.openxmlformats.org/officeDocument/2006/relationships/notesMaster" Target="/ppt/notesMasters/notesMaster1.xml" Id="Rde371349ba1d4d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2423bcbf644cc9" /><Relationship Type="http://schemas.openxmlformats.org/officeDocument/2006/relationships/notesMaster" Target="/ppt/notesMasters/notesMaster1.xml" Id="Rad0dd49a39e54c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1e27a3da954bc6" /><Relationship Type="http://schemas.openxmlformats.org/officeDocument/2006/relationships/notesMaster" Target="/ppt/notesMasters/notesMaster1.xml" Id="Rac2344dc4b46432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2a306521a254bcc" /><Relationship Type="http://schemas.openxmlformats.org/officeDocument/2006/relationships/notesMaster" Target="/ppt/notesMasters/notesMaster1.xml" Id="R81baac114d334e1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c5c6e235894ebe" /><Relationship Type="http://schemas.openxmlformats.org/officeDocument/2006/relationships/notesMaster" Target="/ppt/notesMasters/notesMaster1.xml" Id="R4759f7d346994c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62c57930edd44f5" /><Relationship Type="http://schemas.openxmlformats.org/officeDocument/2006/relationships/notesMaster" Target="/ppt/notesMasters/notesMaster1.xml" Id="Rc7c7eacc14fc452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3ad83c651cc42aa" /><Relationship Type="http://schemas.openxmlformats.org/officeDocument/2006/relationships/notesMaster" Target="/ppt/notesMasters/notesMaster1.xml" Id="Rdb2df06297bb46c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7362a91ba654524" /><Relationship Type="http://schemas.openxmlformats.org/officeDocument/2006/relationships/notesMaster" Target="/ppt/notesMasters/notesMaster1.xml" Id="R7be211c4ed2546d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80f05f1e34c4dd8" /><Relationship Type="http://schemas.openxmlformats.org/officeDocument/2006/relationships/notesMaster" Target="/ppt/notesMasters/notesMaster1.xml" Id="R4ecc2746e0ba4f5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7e1808384964152" /><Relationship Type="http://schemas.openxmlformats.org/officeDocument/2006/relationships/notesMaster" Target="/ppt/notesMasters/notesMaster1.xml" Id="Rd0c79c0146234d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발표의 범위는 GoalPose뿐 아니라 저장소에서 파생된 GetUp, Kick, SafeFall, 그리고 아직 결과가 없는 G batch까지입니다. 결과가 있는 것과 구현만 된 것을 명확히 구분하겠다고 먼저 선언합니다.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MASTERPLAN.md</a:t>
            </a:r>
          </a:p>
          <a:p xmlns:a="http://schemas.openxmlformats.org/drawingml/2006/main">
            <a:r>
              <a:t>- masterplan2.md</a:t>
            </a:r>
          </a:p>
          <a:p xmlns:a="http://schemas.openxmlformats.org/drawingml/2006/main">
            <a:r>
              <a:t>- masterplan3.md</a:t>
            </a:r>
          </a:p>
          <a:p xmlns:a="http://schemas.openxmlformats.org/drawingml/2006/main">
            <a:r>
              <a:t>- gbatch.md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결과부터 제시합니다. E0는 위치와 방향, 정지에서 최고지만 낙상 두 번 때문에 최종 성공이라고 부르지 않습니다. 반대로 armB는 단일변수 비교라 goal_reached의 인과 근거가 가장 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K1_walk/select_results/E0_armB_armsdown/report.json</a:t>
            </a:r>
          </a:p>
          <a:p xmlns:a="http://schemas.openxmlformats.org/drawingml/2006/main">
            <a:r>
              <a:t>- K1_walk/armA_20260726_121213/report.json</a:t>
            </a:r>
          </a:p>
          <a:p xmlns:a="http://schemas.openxmlformats.org/drawingml/2006/main">
            <a:r>
              <a:t>- K1_walk/armB_20260726_121222/report.json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논문을 source로 삼았다는 것과, 실제 K1에서 효과가 있었다는 것을 분리합니다. 평가 보고서와 frozen config가 최우선이며, masterplan의 해석은 그 다음입니다.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masterplan3.md</a:t>
            </a:r>
          </a:p>
          <a:p xmlns:a="http://schemas.openxmlformats.org/drawingml/2006/main">
            <a:r>
              <a:t>- K1_walk/select_results/E0_armB_armsdown/report.json</a:t>
            </a:r>
          </a:p>
          <a:p xmlns:a="http://schemas.openxmlformats.org/drawingml/2006/main">
            <a:r>
              <a:t>- htwk-gym/envs/K1/Goal_Pose_V7.yaml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PPO의 수식보다 먼저 학습 루프를 설명합니다. reward는 설명문이 아니라 최적화 대상이며, 같은 +1도 매 스텝 쌓이는지 한 번만 주는지에 따라 영향이 달라집니다.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htwk-gym/utils/runner.py</a:t>
            </a:r>
          </a:p>
          <a:p xmlns:a="http://schemas.openxmlformats.org/drawingml/2006/main">
            <a:r>
              <a:t>- htwk-gym/utils/runner_v3.py</a:t>
            </a:r>
          </a:p>
          <a:p xmlns:a="http://schemas.openxmlformats.org/drawingml/2006/main">
            <a:r>
              <a:t>- htwk-gym/envs/K1/Goal_Pose.yaml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대부분 버전에서 입력과 출력을 유지한 것은 warm-start 호환성과 실험 비교 때문입니다. CrossQ는 GoalPose의 후속 버전이 아니라 GetUp이라는 다른 task에 맞춘 별도 분기입니다.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htwk-gym/utils/runner.py</a:t>
            </a:r>
          </a:p>
          <a:p xmlns:a="http://schemas.openxmlformats.org/drawingml/2006/main">
            <a:r>
              <a:t>- htwk-gym/utils/runner_v3.py</a:t>
            </a:r>
          </a:p>
          <a:p xmlns:a="http://schemas.openxmlformats.org/drawingml/2006/main">
            <a:r>
              <a:t>- htwk-gym/utils/runner_crossq.py</a:t>
            </a:r>
          </a:p>
          <a:p xmlns:a="http://schemas.openxmlformats.org/drawingml/2006/main">
            <a:r>
              <a:t>- htwk-gym/algorithms/crossq.py</a:t>
            </a:r>
          </a:p>
          <a:p xmlns:a="http://schemas.openxmlformats.org/drawingml/2006/main">
            <a:r>
              <a:t>- https://openreview.net/forum?id=Z5rhPej0V7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버전 번호와 arm 이름이 혼재하므로 시간 흐름으로 정리합니다. armD_v2_ultimate의 v2는 실험명이며 독립 학습 계열 v2가 아닙니다. E3와 F batch는 결과가 아니라 가설 관리의 중간 기록입니다.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MASTERPLAN.md</a:t>
            </a:r>
          </a:p>
          <a:p xmlns:a="http://schemas.openxmlformats.org/drawingml/2006/main">
            <a:r>
              <a:t>- masterplan2.md</a:t>
            </a:r>
          </a:p>
          <a:p xmlns:a="http://schemas.openxmlformats.org/drawingml/2006/main">
            <a:r>
              <a:t>- masterplan3.md</a:t>
            </a:r>
          </a:p>
          <a:p xmlns:a="http://schemas.openxmlformats.org/drawingml/2006/main">
            <a:r>
              <a:t>- gbatch.md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v0는 사람이 이해하기 쉬운 세 reward를 직접 더했습니다. 방향은 잘 맞췄지만, 목표 근처에서 계속 움직여도 위치·방향 점수를 받을 수 있었습니다. 낙상 증가까지 함께 보여 trade-off를 숨기지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b15eb13:htwk-gym/envs/K1/Goal_Pose.yaml</a:t>
            </a:r>
          </a:p>
          <a:p xmlns:a="http://schemas.openxmlformats.org/drawingml/2006/main">
            <a:r>
              <a:t>- htwk-gym/envs/K1/goal_pose.py</a:t>
            </a:r>
          </a:p>
          <a:p xmlns:a="http://schemas.openxmlformats.org/drawingml/2006/main">
            <a:r>
              <a:t>- MASTERPLAN.md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constellation reward의 장점은 위치와 방향을 한 기하학으로 묶는 것입니다. 그러나 튜닝이 사라지는 것은 아니며 radius와 weight가 trade-off를 정합니다. 원 논문의 모든 설정을 그대로 재현한 버전도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https://arxiv.org/abs/2508.14098</a:t>
            </a:r>
          </a:p>
          <a:p xmlns:a="http://schemas.openxmlformats.org/drawingml/2006/main">
            <a:r>
              <a:t>- htwk-gym/envs/K1/Goal_Pose.yaml</a:t>
            </a:r>
          </a:p>
          <a:p xmlns:a="http://schemas.openxmlformats.org/drawingml/2006/main">
            <a:r>
              <a:t>- htwk-gym/envs/K1/goal_pose.py</a:t>
            </a:r>
          </a:p>
          <a:p xmlns:a="http://schemas.openxmlformats.org/drawingml/2006/main">
            <a:r>
              <a:t>- MASTERPLAN.md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발표에서 가장 방어력 있는 비교입니다. armB는 armA에서 goal_reached 하나만 바꿨습니다. angular speed가 성공 조건에 없고 낙상은 줄지 않았다는 한계도 같이 말합니다. armC는 checkpoint 길이가 달라 완전 동일 compute 비교는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K1_walk/armA_20260726_121213/report.json</a:t>
            </a:r>
          </a:p>
          <a:p xmlns:a="http://schemas.openxmlformats.org/drawingml/2006/main">
            <a:r>
              <a:t>- K1_walk/armB_20260726_121222/report.json</a:t>
            </a:r>
          </a:p>
          <a:p xmlns:a="http://schemas.openxmlformats.org/drawingml/2006/main">
            <a:r>
              <a:t>- K1_walk/armC_20260726_121232/report.json</a:t>
            </a:r>
          </a:p>
          <a:p xmlns:a="http://schemas.openxmlformats.org/drawingml/2006/main">
            <a:r>
              <a:t>- MASTERPLAN.md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armD는 12개 변경이라 실패 원인을 증명할 수 없습니다. warm-start의 action-to-torque 의미를 바꾼 PD gain과 넓은 goal range가 주된 의심입니다. v3는 armD 대비 회복했지만 여전히 너무 느리고 never_arrived가 높았습니다. 과거 symmetric_coef 키는 dead key이고 실제 runner가 읽는 키는 symmetry_coef입니다.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K1_walk/armD_20260726_121004/report.json</a:t>
            </a:r>
          </a:p>
          <a:p xmlns:a="http://schemas.openxmlformats.org/drawingml/2006/main">
            <a:r>
              <a:t>- K1_walk/v3_20260726_121242/report.json</a:t>
            </a:r>
          </a:p>
          <a:p xmlns:a="http://schemas.openxmlformats.org/drawingml/2006/main">
            <a:r>
              <a:t>- htwk-gym/utils/runner_v3.py</a:t>
            </a:r>
          </a:p>
          <a:p xmlns:a="http://schemas.openxmlformats.org/drawingml/2006/main">
            <a:r>
              <a:t>- htwk-gym/envs/K1/goal_pose_v3.py</a:t>
            </a:r>
          </a:p>
          <a:p xmlns:a="http://schemas.openxmlformats.org/drawingml/2006/main">
            <a:r>
              <a:t>- https://www.cs.ubc.ca/~van/papers/2019-MIG-symmetry/index.html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task는 코드가 있다는 사실과 결과가 있다는 사실을 분리합니다. GetUp은 CrossQ를 선택했고, Kick과 SafeFall은 RunnerV3 PPO입니다. GoalPose 숫자와 한 표에서 순위를 매기지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htwk-gym/envs/K1/Get_Up.yaml</a:t>
            </a:r>
          </a:p>
          <a:p xmlns:a="http://schemas.openxmlformats.org/drawingml/2006/main">
            <a:r>
              <a:t>- htwk-gym/envs/K1/Kick.yaml</a:t>
            </a:r>
          </a:p>
          <a:p xmlns:a="http://schemas.openxmlformats.org/drawingml/2006/main">
            <a:r>
              <a:t>- htwk-gym/envs/K1/Safe_Fall.yaml</a:t>
            </a:r>
          </a:p>
          <a:p xmlns:a="http://schemas.openxmlformats.org/drawingml/2006/main">
            <a:r>
              <a:t>- https://arxiv.org/abs/2410.08655</a:t>
            </a:r>
          </a:p>
          <a:p xmlns:a="http://schemas.openxmlformats.org/drawingml/2006/main">
            <a:r>
              <a:t>- https://openreview.net/forum?id=Z5rhPej0V7</a:t>
            </a:r>
          </a:p>
          <a:p xmlns:a="http://schemas.openxmlformats.org/drawingml/2006/main">
            <a:r>
              <a:t>- https://arxiv.org/abs/2512.01336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E0는 armB backbone에 RunnerV3/symmetry와 arms-down 구조를 결합한 기준선입니다. category별 위치 median도 2.6~2.9 cm로 균일합니다. winner_video의 별도 report가 아니라 select_results의 표준 report를 권위 있는 결과로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K1_walk/select_results/E0_armB_armsdown/report.json</a:t>
            </a:r>
          </a:p>
          <a:p xmlns:a="http://schemas.openxmlformats.org/drawingml/2006/main">
            <a:r>
              <a:t>- K1_walk/select_results/E0_armB_armsdown/winner_video/rollout_env0.mp4</a:t>
            </a:r>
          </a:p>
          <a:p xmlns:a="http://schemas.openxmlformats.org/drawingml/2006/main">
            <a:r>
              <a:t>- htwk-gym/envs/K1/Goal_Pose_V7.yaml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좋은 성과와 좋은 인과 추론은 다릅니다. E0는 강한 결과지만 armB 대비 runner, symmetry, arms-down이 함께 달라졌습니다. 별도의 symmetry telemetry도 과거 report에는 충분히 기록되지 않았습니다.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K1_walk/select_results/E0_armB_armsdown/report.json</a:t>
            </a:r>
          </a:p>
          <a:p xmlns:a="http://schemas.openxmlformats.org/drawingml/2006/main">
            <a:r>
              <a:t>- htwk-gym/utils/runner_v3.py</a:t>
            </a:r>
          </a:p>
          <a:p xmlns:a="http://schemas.openxmlformats.org/drawingml/2006/main">
            <a:r>
              <a:t>- htwk-gym/tools/make_v7_arms.py</a:t>
            </a:r>
          </a:p>
          <a:p xmlns:a="http://schemas.openxmlformats.org/drawingml/2006/main">
            <a:r>
              <a:t>- masterplan2.md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E1의 숫자를 path 실패로 인용하지 않습니다. 코드 의미가 달라졌기 때문입니다. E2와 V7_full도 report의 config 필드가 base config를 가리킵니다. 최신 masterplan3의 정정이 우선합니다.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masterplan3.md</a:t>
            </a:r>
          </a:p>
          <a:p xmlns:a="http://schemas.openxmlformats.org/drawingml/2006/main">
            <a:r>
              <a:t>- K1_walk/select_results/E1_path/report.json</a:t>
            </a:r>
          </a:p>
          <a:p xmlns:a="http://schemas.openxmlformats.org/drawingml/2006/main">
            <a:r>
              <a:t>- K1_walk/select_results/E2_robust/report.json</a:t>
            </a:r>
          </a:p>
          <a:p xmlns:a="http://schemas.openxmlformats.org/drawingml/2006/main">
            <a:r>
              <a:t>- K1_walk/select_results/V7_full/report.json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E3와 F를 실제 성능 실패로 부르면 안 됩니다. run/report가 없기 때문입니다. E3는 curriculum 문헌과 기존 far-field 실패를 검토해 launch 전에 보류했고, F2/F3는 G1/G2로 구체화됐습니다.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masterplan2.md</a:t>
            </a:r>
          </a:p>
          <a:p xmlns:a="http://schemas.openxmlformats.org/drawingml/2006/main">
            <a:r>
              <a:t>- masterplan3.md</a:t>
            </a:r>
          </a:p>
          <a:p xmlns:a="http://schemas.openxmlformats.org/drawingml/2006/main">
            <a:r>
              <a:t>- gbatch.md</a:t>
            </a:r>
          </a:p>
          <a:p xmlns:a="http://schemas.openxmlformats.org/drawingml/2006/main">
            <a:r>
              <a:t>- https://arxiv.org/abs/2205.02824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strict success 하나만 보면 원인을 알 수 없습니다. armA는 not_stopped, armD/v3는 never_arrived가 병목이었고, armB/E0는 거의 ok로 바뀌었습니다. 그 변화가 reward 설계의 효과를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K1_walk/armA_20260726_121213/report.json</a:t>
            </a:r>
          </a:p>
          <a:p xmlns:a="http://schemas.openxmlformats.org/drawingml/2006/main">
            <a:r>
              <a:t>- K1_walk/armB_20260726_121222/report.json</a:t>
            </a:r>
          </a:p>
          <a:p xmlns:a="http://schemas.openxmlformats.org/drawingml/2006/main">
            <a:r>
              <a:t>- K1_walk/armD_20260726_121004/report.json</a:t>
            </a:r>
          </a:p>
          <a:p xmlns:a="http://schemas.openxmlformats.org/drawingml/2006/main">
            <a:r>
              <a:t>- K1_walk/select_results/E0_armB_armsdown/report.json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jitter는 위치 정확도를 재는 실험이 아닙니다. 목표 자체가 매 스텝 바뀌므로 upright, falls, angular velocity와 speed를 봅니다. path segment는 moving carrot 때문에 최종 position gate에서 제외합니다.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masterplan2.md</a:t>
            </a:r>
          </a:p>
          <a:p xmlns:a="http://schemas.openxmlformats.org/drawingml/2006/main">
            <a:r>
              <a:t>- masterplan3.md</a:t>
            </a:r>
          </a:p>
          <a:p xmlns:a="http://schemas.openxmlformats.org/drawingml/2006/main">
            <a:r>
              <a:t>- K1_walk/select_results/E0_armB_armsdown/report.json</a:t>
            </a:r>
          </a:p>
          <a:p xmlns:a="http://schemas.openxmlformats.org/drawingml/2006/main">
            <a:r>
              <a:t>- htwk-gym/envs/K1/goal_pose_v7.py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E0의 강점인 exact stop이 연속 waypoint에서는 stop-and-go가 될 수 있습니다. SmoothTurn은 progress를 bank하고 다음 목표를 미리 관측합니다. 아직 학습 결과는 없습니다.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htwk-gym/envs/K1/goal_pose_v8.py</a:t>
            </a:r>
          </a:p>
          <a:p xmlns:a="http://schemas.openxmlformats.org/drawingml/2006/main">
            <a:r>
              <a:t>- htwk-gym/envs/K1/Goal_Pose_V8.yaml</a:t>
            </a:r>
          </a:p>
          <a:p xmlns:a="http://schemas.openxmlformats.org/drawingml/2006/main">
            <a:r>
              <a:t>- https://arxiv.org/abs/2603.12842</a:t>
            </a:r>
          </a:p>
          <a:p xmlns:a="http://schemas.openxmlformats.org/drawingml/2006/main">
            <a:r>
              <a:t>- gbatch.md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모든 G arm은 E0@6200 warm-start로 비교 기준을 통일합니다. G1과 G2를 먼저 독립 실행하고 G3는 마지막 통합안이어야 armD의 실수를 반복하지 않습니다. 현재 로컬에는 G 결과가 없습니다.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gbatch.md</a:t>
            </a:r>
          </a:p>
          <a:p xmlns:a="http://schemas.openxmlformats.org/drawingml/2006/main">
            <a:r>
              <a:t>- htwk-gym/tools/run_g_suite.sh</a:t>
            </a:r>
          </a:p>
          <a:p xmlns:a="http://schemas.openxmlformats.org/drawingml/2006/main">
            <a:r>
              <a:t>- htwk-gym/tools/tonight.sh</a:t>
            </a:r>
          </a:p>
          <a:p xmlns:a="http://schemas.openxmlformats.org/drawingml/2006/main">
            <a:r>
              <a:t>- htwk-gym/tools/make_v7_arms.py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코드에서 V8_ARMS는 정의되어 있지만 ALL_ARMS에 합쳐지지 않았습니다. run_g_suite와 tonight는 G4를 --only로 생성하므로 launch 전에 고쳐야 합니다. 이 발표에서는 진단만 하며 코드는 수정하지 않았습니다.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htwk-gym/tools/make_v7_arms.py:41</a:t>
            </a:r>
          </a:p>
          <a:p xmlns:a="http://schemas.openxmlformats.org/drawingml/2006/main">
            <a:r>
              <a:t>- htwk-gym/tools/make_v7_arms.py:204</a:t>
            </a:r>
          </a:p>
          <a:p xmlns:a="http://schemas.openxmlformats.org/drawingml/2006/main">
            <a:r>
              <a:t>- htwk-gym/tools/make_v7_arms.py:230</a:t>
            </a:r>
          </a:p>
          <a:p xmlns:a="http://schemas.openxmlformats.org/drawingml/2006/main">
            <a:r>
              <a:t>- htwk-gym/tools/run_g_suite.sh</a:t>
            </a:r>
          </a:p>
          <a:p xmlns:a="http://schemas.openxmlformats.org/drawingml/2006/main">
            <a:r>
              <a:t>- htwk-gym/tools/tonight.sh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마무리는 알고리즘 이름보다 실험 방법의 학습을 강조합니다. 다음 단계는 G1/G2/G4를 독립적으로 실행하고, E0의 낙상 두 건을 fall-context로 분석하는 것입니다. 상세 reward와 source는 동봉한 근거 문서에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K1_LEARNING_HISTORY_KO.md</a:t>
            </a:r>
          </a:p>
          <a:p xmlns:a="http://schemas.openxmlformats.org/drawingml/2006/main">
            <a:r>
              <a:t>- MASTERPLAN.md</a:t>
            </a:r>
          </a:p>
          <a:p xmlns:a="http://schemas.openxmlformats.org/drawingml/2006/main">
            <a:r>
              <a:t>- masterplan3.md</a:t>
            </a:r>
          </a:p>
          <a:p xmlns:a="http://schemas.openxmlformats.org/drawingml/2006/main">
            <a:r>
              <a:t>- gbatch.md</a:t>
            </a:r>
          </a:p>
          <a:p xmlns:a="http://schemas.openxmlformats.org/drawingml/2006/main">
            <a:r>
              <a:t>- K1_walk/select_results/E0_armB_armsdown/report.json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42ac6117104f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5c9d390821498d" /><Relationship Type="http://schemas.openxmlformats.org/officeDocument/2006/relationships/slideLayout" Target="/ppt/slideLayouts/slideLayout1.xml" Id="R6e366f5b561949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366f5b561949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a9876d76f4716" /><Relationship Type="http://schemas.openxmlformats.org/officeDocument/2006/relationships/notesSlide" Target="/ppt/notesSlides/notesSlide1.xml" Id="Rdbf54ce3612843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7f851c8ee4b42" /><Relationship Type="http://schemas.openxmlformats.org/officeDocument/2006/relationships/notesSlide" Target="/ppt/notesSlides/notesSlide2.xml" Id="R860ed791a2f648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fc243a0574420" /><Relationship Type="http://schemas.openxmlformats.org/officeDocument/2006/relationships/notesSlide" Target="/ppt/notesSlides/notesSlide3.xml" Id="Rcdfebf2c5c074d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906b3acdd44ca" /><Relationship Type="http://schemas.openxmlformats.org/officeDocument/2006/relationships/notesSlide" Target="/ppt/notesSlides/notesSlide4.xml" Id="R12e3d23d1d2542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d42af397b4f35" /><Relationship Type="http://schemas.openxmlformats.org/officeDocument/2006/relationships/notesSlide" Target="/ppt/notesSlides/notesSlide5.xml" Id="R7111ee6273b84b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bcc76f96e4f29" /><Relationship Type="http://schemas.openxmlformats.org/officeDocument/2006/relationships/notesSlide" Target="/ppt/notesSlides/notesSlide6.xml" Id="Rdc69449b426842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8092aa39249b4" /><Relationship Type="http://schemas.openxmlformats.org/officeDocument/2006/relationships/notesSlide" Target="/ppt/notesSlides/notesSlide7.xml" Id="R36fb46686f964b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0552a6c0d42ff" /><Relationship Type="http://schemas.openxmlformats.org/officeDocument/2006/relationships/notesSlide" Target="/ppt/notesSlides/notesSlide8.xml" Id="R0362e4518b4844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661b7fcf24f27" /><Relationship Type="http://schemas.openxmlformats.org/officeDocument/2006/relationships/chart" Target="/ppt/slides/charts/chart1.xml" Id="Rb5be7ab83f594d0f" /><Relationship Type="http://schemas.openxmlformats.org/officeDocument/2006/relationships/notesSlide" Target="/ppt/notesSlides/notesSlide9.xml" Id="Rce1fafe4af6641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e90461dc6406f" /><Relationship Type="http://schemas.openxmlformats.org/officeDocument/2006/relationships/notesSlide" Target="/ppt/notesSlides/notesSlide10.xml" Id="R5d4bb18cdf034b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887cee31444aa" /><Relationship Type="http://schemas.openxmlformats.org/officeDocument/2006/relationships/notesSlide" Target="/ppt/notesSlides/notesSlide11.xml" Id="R526d81c879f94a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ef571de0747e1" /><Relationship Type="http://schemas.openxmlformats.org/officeDocument/2006/relationships/image" Target="/ppt/media/image.png" Id="Rdcaab0bf26ae4c35" /><Relationship Type="http://schemas.openxmlformats.org/officeDocument/2006/relationships/notesSlide" Target="/ppt/notesSlides/notesSlide12.xml" Id="R684e9506138f4e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c3d353b8f4adc" /><Relationship Type="http://schemas.openxmlformats.org/officeDocument/2006/relationships/notesSlide" Target="/ppt/notesSlides/notesSlide13.xml" Id="R3db8f7c19d20402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904cbc3914dd1" /><Relationship Type="http://schemas.openxmlformats.org/officeDocument/2006/relationships/notesSlide" Target="/ppt/notesSlides/notesSlide14.xml" Id="R28860abe777046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0e57ff53c44fc" /><Relationship Type="http://schemas.openxmlformats.org/officeDocument/2006/relationships/notesSlide" Target="/ppt/notesSlides/notesSlide15.xml" Id="R0954b530775e4ba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66b9041dd4134" /><Relationship Type="http://schemas.openxmlformats.org/officeDocument/2006/relationships/notesSlide" Target="/ppt/notesSlides/notesSlide16.xml" Id="R9e7d26dbf0b44f4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86ce6bb494e4f" /><Relationship Type="http://schemas.openxmlformats.org/officeDocument/2006/relationships/notesSlide" Target="/ppt/notesSlides/notesSlide17.xml" Id="Rb8f3859e47724e4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f2b7c6b294910" /><Relationship Type="http://schemas.openxmlformats.org/officeDocument/2006/relationships/notesSlide" Target="/ppt/notesSlides/notesSlide18.xml" Id="R021c3e03cf1c4dc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4f928225b4f73" /><Relationship Type="http://schemas.openxmlformats.org/officeDocument/2006/relationships/notesSlide" Target="/ppt/notesSlides/notesSlide19.xml" Id="R07ec9f9aa2f34e8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04b3a75f14598" /><Relationship Type="http://schemas.openxmlformats.org/officeDocument/2006/relationships/notesSlide" Target="/ppt/notesSlides/notesSlide20.xml" Id="Rd35a7a3fb1a347c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bda802514436e" /><Relationship Type="http://schemas.openxmlformats.org/officeDocument/2006/relationships/notesSlide" Target="/ppt/notesSlides/notesSlide21.xml" Id="R5d57dc3c019d4ae3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위치 오차 중앙값 (cm)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318"/>
              </a:solidFill>
              <a:latin typeface="Apple SD Gothic Neo"/>
              <a:ea typeface="Apple SD Gothic Neo"/>
              <a:cs typeface="Apple SD Gothic Neo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pos median (cm)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3"/>
              <c:pt idx="0">
                <c:v>A
연장</c:v>
              </c:pt>
              <c:pt idx="1">
                <c:v>B
+reached</c:v>
              </c:pt>
              <c:pt idx="2">
                <c:v>C
200 Hz</c:v>
              </c:pt>
            </c:strLit>
          </c:cat>
          <c:val>
            <c:numLit>
              <c:formatCode>General</c:formatCode>
              <c:ptCount val="3"/>
              <c:pt idx="0">
                <c:v>7.6</c:v>
              </c:pt>
              <c:pt idx="1">
                <c:v>3.9</c:v>
              </c:pt>
              <c:pt idx="2">
                <c:v>8.3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76A41-9628-41B4-9D8D-DA9CC744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K1 HUMANOID · 2026.07.28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84FBC-E47A-46DD-8581-531CC6BA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933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GoalPose 학습의</a:t>
            </a:r>
          </a:p>
          <a:p xmlns:a="http://schemas.openxmlformats.org/drawingml/2006/main">
            <a:pPr algn="l">
              <a:defRPr sz="42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모든 버전과 판단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E31C0-CA5D-4513-A95D-57A3DDE7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알고리즘 · 리워드 · 이번 실험의 질문 · 결과 · eval 해석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B7B00-FCF8-4F3C-B98E-794063A0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8FF"/>
          </a:solidFill>
          <a:ln xmlns:a="http://schemas.openxmlformats.org/drawingml/2006/main" w="0">
            <a:solidFill>
              <a:srgbClr val="DDE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153C6-B483-4BC3-8E58-CF8E57DC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053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알고리즘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E8646-9507-4ECB-A216-5C50F1E6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48200"/>
            <a:ext cx="1009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solidFill>
              <a:srgbClr val="DDF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82E14-954C-4F84-AF85-A0074394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053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rPr>
              <a:t>리워드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8FBE6-5F76-46A1-A713-0E497B97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4820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E9DD"/>
          </a:solidFill>
          <a:ln xmlns:a="http://schemas.openxmlformats.org/drawingml/2006/main" w="0">
            <a:solidFill>
              <a:srgbClr val="FBE9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CB06F-4EE7-481F-8074-F4D55A4F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053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rPr>
              <a:t>증거 수준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5334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8A8BD-7FDD-4E06-8A98-FA3907AF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핵심 결론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12555-312E-48D9-89C3-0FAF35D3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24500"/>
            <a:ext cx="947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좋은 reward보다 먼저 필요한 것은 ‘원하는 종착 상태’와 ‘원인을 분리하는 실험’이었다.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ECBEE-4086-43E2-ABB8-B049D6A4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00906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F36C14-4271-417B-AC92-3F67C810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K1 GOALPOSE · LEARNING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EF76C-FFAB-4CA4-AD55-ACBDDC8A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현재 최고 유효 결과는 E0 — 정확도는 통과, 안전은 미완료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00050" y="11620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618B0-5AEE-4138-A049-06467D36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F1E46-C883-4207-AB31-642905E6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E0@6200은 목표 자세 제어를 거의 해결했지만, hard safety gate는 평균이 아니라 ‘0회’다.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D838F-5D12-4584-9B20-1FFB286B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3476625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solidFill>
              <a:srgbClr val="DDF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4187A-2FE8-431B-ACE9-161C9666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30194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rPr>
              <a:t>2.72 cm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9E1BB-6D00-42A6-874C-80B1BE5C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3019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위치 오차 median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141C9-1A1C-4620-A4BC-BFDCFBF4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33775"/>
            <a:ext cx="3019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gate ≤ 5 cm · 통과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CD1D9-10A9-4E77-9ECE-A07DEDC0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76450"/>
            <a:ext cx="3476625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DDE8FF"/>
          </a:solidFill>
          <a:ln xmlns:a="http://schemas.openxmlformats.org/drawingml/2006/main" w="0">
            <a:solidFill>
              <a:srgbClr val="DDE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CC97D-8554-4782-8780-188DA3D9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33625"/>
            <a:ext cx="30194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89.3%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E611E-9EA4-45C1-80E1-6D3158AE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43250"/>
            <a:ext cx="3019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strict success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0534E-B3FF-4ABD-9942-77ABDD54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33775"/>
            <a:ext cx="3019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5 cm + 10° + stop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FC704-9ED7-4C76-A286-F814EEA7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76450"/>
            <a:ext cx="3476625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9E1E1"/>
          </a:solidFill>
          <a:ln xmlns:a="http://schemas.openxmlformats.org/drawingml/2006/main" w="0">
            <a:solidFill>
              <a:srgbClr val="F9E1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9DD97-E38F-4084-AC07-004452FA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33625"/>
            <a:ext cx="30194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2 falls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44C9B-53ED-4292-9629-4514844C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43250"/>
            <a:ext cx="3019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120 s × 256 env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14623-EEF0-4F1D-8ECD-BF4F85FA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33775"/>
            <a:ext cx="3019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gate = 0 · 미통과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F8454-931E-42ED-B3E0-52EEDA4B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11401425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0A050F-C974-417B-AFEE-AB7DFF27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624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가장 큰 단일 개선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9DD986-7284-46E2-A486-312D772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armA → armB: goal_reached +1 하나로 pos 7.6 → 3.9 cm, strict 13.9 → 52.8%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BC4AC7-1D48-4245-A3AD-C5E34467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현재 주장 강도: armB 원인 근거는 강함 · E0 내부 요인(symmetry/arms-down/runner)은 분리되지 않음</a:t>
            </a:r>
          </a:p>
        </p:txBody>
      </p:sp>
    </p:spTree>
    <p:extLst>
      <p:ext uri="{BB962C8B-B14F-4D97-AF65-F5344CB8AC3E}">
        <p14:creationId xmlns:p14="http://schemas.microsoft.com/office/powerpoint/2010/main" val="16677438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AD4EE8-FE1D-4801-AB72-B08FA571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K1 GOALPOSE · LEARNING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23C80-121A-419F-9B69-871A2658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결과보다 먼저: 어떤 숫자를 ‘증거’로 인정할 것인가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400050" y="11620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BD66E-8353-4CF1-B223-54FEC3D1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E25AE-B579-46C5-B87A-0865E63A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판정 우선순위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86F4A-5461-4A1B-9D10-CE3A15C8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5334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solidFill>
              <a:srgbClr val="DDF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F5BC7-4BCA-4EA1-AE9E-88AEC7C7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61251-EFE8-4241-A956-3141A9A7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145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report.json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B3BC3-B941-4F2C-99A7-59AE8581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240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실제 평가 숫자·조건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52F28-3008-42DE-966F-13A96D64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5334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E8FF"/>
          </a:solidFill>
          <a:ln xmlns:a="http://schemas.openxmlformats.org/drawingml/2006/main" w="0">
            <a:solidFill>
              <a:srgbClr val="DDE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8A5B2-F4B5-4F7B-9952-8747B71B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955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C3E2D-6D06-495E-99F4-CB2B4FE2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57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frozen config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EC634-44E5-46B0-AA43-9FF3DB03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670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run 당시 처리(treatment)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C8183-03E3-4124-AF8A-3D78ABE8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5334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5DF04-5F88-4FF2-A2ED-447A76D5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F7DA38-164A-4A07-BCEF-20C9FDF4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source 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7CD425-7D4A-4422-A65D-E3DB2DDC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099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실제 reward·runner semantics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1EB78-A69E-4EB9-A3B4-544EAD68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5334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BE9DD"/>
          </a:solidFill>
          <a:ln xmlns:a="http://schemas.openxmlformats.org/drawingml/2006/main" w="0">
            <a:solidFill>
              <a:srgbClr val="FBE9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7FB54F-1008-42CE-AE3F-576B01B9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81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10B287-D818-449C-9D15-4B4B1E2A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43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masterplan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0D2F6E-98A6-42E1-B8F1-B30AEF5B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529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의도·사후 해석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70023C-CB82-4B43-83AC-6B09F984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5334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9E1E1"/>
          </a:solidFill>
          <a:ln xmlns:a="http://schemas.openxmlformats.org/drawingml/2006/main" w="0">
            <a:solidFill>
              <a:srgbClr val="F9E1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C8EEE3-F4D4-4CA5-80D5-2FCE9E69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244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943918-9C0C-407D-817E-0EA377EB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863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paper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8CB12B-2EBE-4408-ADE8-F62220CA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958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아이디어 출처 — 우리 로봇의 결과는 아님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741585-9401-4906-BCE6-228E4D82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90650"/>
            <a:ext cx="5610225" cy="41529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7D7AA5-275C-4636-958B-FE51F8F3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57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최종 clean gate</a:t>
            </a:r>
          </a:p>
        </p:txBody>
      </p:sp>
      <p:cxnSp>
        <p:nvCxnSpPr>
          <p:cNvPr id="76" name=""/>
          <p:cNvCxnSpPr/>
          <p:nvPr/>
        </p:nvCxnSpPr>
        <p:spPr>
          <a:xfrm xmlns:a="http://schemas.openxmlformats.org/drawingml/2006/main">
            <a:off x="6477000" y="2724150"/>
            <a:ext cx="49053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404A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31DA88-801F-4351-B11A-FAE5382D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C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8CED8"/>
                </a:solidFill>
                <a:latin typeface="Apple SD Gothic Neo"/>
                <a:ea typeface="Apple SD Gothic Neo"/>
                <a:cs typeface="Apple SD Gothic Neo"/>
              </a:rPr>
              <a:t>pos median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E2B73D-F420-427F-974E-0B97839F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28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≤ 5 cm</a:t>
            </a:r>
          </a:p>
        </p:txBody>
      </p:sp>
      <p:cxnSp>
        <p:nvCxnSpPr>
          <p:cNvPr id="79" name=""/>
          <p:cNvCxnSpPr/>
          <p:nvPr/>
        </p:nvCxnSpPr>
        <p:spPr>
          <a:xfrm xmlns:a="http://schemas.openxmlformats.org/drawingml/2006/main">
            <a:off x="6477000" y="3390900"/>
            <a:ext cx="49053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404A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38D132-5B65-4D9E-B95C-CCB67CAB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146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C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8CED8"/>
                </a:solidFill>
                <a:latin typeface="Apple SD Gothic Neo"/>
                <a:ea typeface="Apple SD Gothic Neo"/>
                <a:cs typeface="Apple SD Gothic Neo"/>
              </a:rPr>
              <a:t>pos p90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3FE404-82AC-4AE1-82BA-64B67D54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956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≤ 10 cm</a:t>
            </a:r>
          </a:p>
        </p:txBody>
      </p:sp>
      <p:cxnSp>
        <p:nvCxnSpPr>
          <p:cNvPr id="82" name=""/>
          <p:cNvCxnSpPr/>
          <p:nvPr/>
        </p:nvCxnSpPr>
        <p:spPr>
          <a:xfrm xmlns:a="http://schemas.openxmlformats.org/drawingml/2006/main">
            <a:off x="6477000" y="4057650"/>
            <a:ext cx="49053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404A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1133D5-B8E0-4B1B-B490-1C01ED0B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C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8CED8"/>
                </a:solidFill>
                <a:latin typeface="Apple SD Gothic Neo"/>
                <a:ea typeface="Apple SD Gothic Neo"/>
                <a:cs typeface="Apple SD Gothic Neo"/>
              </a:rPr>
              <a:t>heading median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8C654B-93D8-4510-BAB0-6473AE0A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62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≤ 10°</a:t>
            </a:r>
          </a:p>
        </p:txBody>
      </p:sp>
      <p:cxnSp>
        <p:nvCxnSpPr>
          <p:cNvPr id="85" name=""/>
          <p:cNvCxnSpPr/>
          <p:nvPr/>
        </p:nvCxnSpPr>
        <p:spPr>
          <a:xfrm xmlns:a="http://schemas.openxmlformats.org/drawingml/2006/main">
            <a:off x="6477000" y="4724400"/>
            <a:ext cx="49053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404A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F1EF91-0C80-474C-A131-4CEBFEC2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C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8CED8"/>
                </a:solidFill>
                <a:latin typeface="Apple SD Gothic Neo"/>
                <a:ea typeface="Apple SD Gothic Neo"/>
                <a:cs typeface="Apple SD Gothic Neo"/>
              </a:rPr>
              <a:t>falls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F9DA3A-C9C0-499A-AE22-B58C3C00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291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BF962B-9BE3-4659-986C-B95D3814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0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6C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AEB6C4"/>
                </a:solidFill>
                <a:latin typeface="Apple SD Gothic Neo"/>
                <a:ea typeface="Apple SD Gothic Neo"/>
                <a:cs typeface="Apple SD Gothic Neo"/>
              </a:rPr>
              <a:t>256 env × 120 s · deterministic · perturbation OFF · obs noise ON · seed 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D77E8E-EC0C-4B16-B94C-EC60C22A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72150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solidFill>
              <a:srgbClr val="DDF4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1F3681-D464-408D-AFA8-3118556C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293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rPr>
              <a:t>유효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75CA95-9E91-49C9-9318-7907F044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772150"/>
            <a:ext cx="971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8FF"/>
          </a:solidFill>
          <a:ln xmlns:a="http://schemas.openxmlformats.org/drawingml/2006/main" w="0">
            <a:solidFill>
              <a:srgbClr val="DDE8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AFA261-205C-4CD1-A7E9-081BE4AA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8293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준실험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6057B4-69BB-451F-AA36-02D7519B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772150"/>
            <a:ext cx="1162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9E1E1"/>
          </a:solidFill>
          <a:ln xmlns:a="http://schemas.openxmlformats.org/drawingml/2006/main" w="0">
            <a:solidFill>
              <a:srgbClr val="F9E1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C77D54-32DD-440F-B61B-87F82A68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2930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무효 비교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CD0E7F-F968-4380-873D-06623FFE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772150"/>
            <a:ext cx="971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E9DD"/>
          </a:solidFill>
          <a:ln xmlns:a="http://schemas.openxmlformats.org/drawingml/2006/main" w="0">
            <a:solidFill>
              <a:srgbClr val="FBE9D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8240F8-9ED2-4FDD-B0EC-75A8CA83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293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rPr>
              <a:t>미실행</a:t>
            </a:r>
          </a:p>
        </p:txBody>
      </p:sp>
    </p:spTree>
    <p:extLst>
      <p:ext uri="{BB962C8B-B14F-4D97-AF65-F5344CB8AC3E}">
        <p14:creationId xmlns:p14="http://schemas.microsoft.com/office/powerpoint/2010/main" val="12991352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A68EB7-9785-435D-91F5-681A162D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K1 GOALPOSE · LEARNING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94B55-E76D-448D-BC55-8D0272A0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초보자용 1분 개념: PPO 학습은 이 루프를 반복한다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400050" y="11620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47949-A81F-4784-B22B-634E30C0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065F8-8038-421D-B251-B5462619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05050"/>
            <a:ext cx="17907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E8FF"/>
          </a:solidFill>
          <a:ln xmlns:a="http://schemas.openxmlformats.org/drawingml/2006/main" w="0">
            <a:solidFill>
              <a:srgbClr val="DDE8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40489-E704-4EF0-84EC-29EC98C2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관측 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DD0FE-F3AC-455E-9592-0A382892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목표 pose·자세·속도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249F5-B2C0-466C-95A7-EE03FA72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5050" y="2909888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5A3"/>
          </a:solidFill>
          <a:ln xmlns:a="http://schemas.openxmlformats.org/drawingml/2006/main" w="0">
            <a:solidFill>
              <a:srgbClr val="8C95A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E72E3-B98D-440A-AFBC-984938D3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47950" y="28479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C95A3"/>
          </a:solidFill>
          <a:ln xmlns:a="http://schemas.openxmlformats.org/drawingml/2006/main" w="0">
            <a:solidFill>
              <a:srgbClr val="8C95A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C1555-7002-4185-8163-2483044A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05050"/>
            <a:ext cx="17907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6BE6B-87D1-4422-ADD2-E80E4DDA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527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정책 MLP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C36F3-E4A2-410A-AB3E-8708D927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08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[256,128,128]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2A471-1C1E-4699-92FB-2CB0ECFF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2909888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5A3"/>
          </a:solidFill>
          <a:ln xmlns:a="http://schemas.openxmlformats.org/drawingml/2006/main" w="0">
            <a:solidFill>
              <a:srgbClr val="8C95A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7B5D8-D4B0-43C0-9848-A783C1F4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72050" y="28479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C95A3"/>
          </a:solidFill>
          <a:ln xmlns:a="http://schemas.openxmlformats.org/drawingml/2006/main" w="0">
            <a:solidFill>
              <a:srgbClr val="8C95A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58608-D8AB-4FEA-8615-D8156B46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05050"/>
            <a:ext cx="17907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solidFill>
              <a:srgbClr val="DDF4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26E718-92AE-4512-85BB-277B699C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527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rPr>
              <a:t>다리 action 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2AAB35-2244-4F90-845D-33834CCB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908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joint position 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DD48A5-8636-48C4-82BD-8A647BC2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2909888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5A3"/>
          </a:solidFill>
          <a:ln xmlns:a="http://schemas.openxmlformats.org/drawingml/2006/main" w="0">
            <a:solidFill>
              <a:srgbClr val="8C95A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D8ADE5-DD7A-4FFC-8437-3957C91D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296150" y="28479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C95A3"/>
          </a:solidFill>
          <a:ln xmlns:a="http://schemas.openxmlformats.org/drawingml/2006/main" w="0">
            <a:solidFill>
              <a:srgbClr val="8C95A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1D4549-80B6-417E-B4AD-DC4D6848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05050"/>
            <a:ext cx="17907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879A55-06D1-47E5-953F-CF87F60E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527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시뮬레이터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AA7FA5-C4CB-4B95-938B-CAAEA54D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908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다음 상태·접촉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828FCD-BB88-4FB4-8CB0-F51AA8AA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2909888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5A3"/>
          </a:solidFill>
          <a:ln xmlns:a="http://schemas.openxmlformats.org/drawingml/2006/main" w="0">
            <a:solidFill>
              <a:srgbClr val="8C95A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457F67-8024-4BB3-BD18-0EF382F8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20250" y="28479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C95A3"/>
          </a:solidFill>
          <a:ln xmlns:a="http://schemas.openxmlformats.org/drawingml/2006/main" w="0">
            <a:solidFill>
              <a:srgbClr val="8C95A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C52C4F-85CD-49EA-A2D2-C7F8FC2E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05050"/>
            <a:ext cx="17907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BE9DD"/>
          </a:solidFill>
          <a:ln xmlns:a="http://schemas.openxmlformats.org/drawingml/2006/main" w="0">
            <a:solidFill>
              <a:srgbClr val="FBE9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840996-CD6D-49FF-AB3B-C40CC4A4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527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rPr>
              <a:t>reward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89FE64-F019-4572-B444-182EA640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908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좋고 나쁨의 숫자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1619250" y="3733800"/>
            <a:ext cx="9096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BFF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443D35-E966-4345-9E75-1539DE08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504950" y="36576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4AD4FF-BDC4-4286-B4C5-7232E7B0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195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PPO update: reward가 높아지는 방향으로 정책을 조금만 변경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24FC62-C7C8-41A3-ABD2-C1A1D8CA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24400"/>
            <a:ext cx="3524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9DDB65-B99B-4D71-A1E8-FC5C2E0D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왜 PPO?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16A619-A7B4-45B8-A817-0C0888ED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244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보행처럼 연속 action인 문제에서 비교적 안정적. 단, 지금 정책으로 모은 데이터를 주로 써 샘플 비용이 큼.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79E1A5-6ACC-45C5-8DD9-066B6D21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24400"/>
            <a:ext cx="3524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2160AE-0F5D-43B2-9F3E-C9ED6D22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14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왜 warm-start?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0E0EE1-9B9A-495A-84EC-548FBFF4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3244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이미 걷는 ParameterWalk actor에서 시작. 빠르지만 PD·URDF 의미가 바뀌면 기존 지식이 깨짐.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5579A2-C501-406E-82FC-A3DB5441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24400"/>
            <a:ext cx="3524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FE8236-0067-4E31-B369-5F30079B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14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reward의 역할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3D68B6-31DE-4B86-92D6-F0BD5EC4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244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정책은 문장을 이해하지 않는다. 원하는 종착 상태를 누적 return으로 구분해야 함.</a:t>
            </a:r>
          </a:p>
        </p:txBody>
      </p:sp>
    </p:spTree>
    <p:extLst>
      <p:ext uri="{BB962C8B-B14F-4D97-AF65-F5344CB8AC3E}">
        <p14:creationId xmlns:p14="http://schemas.microsoft.com/office/powerpoint/2010/main" val="5850073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25EA72-6359-40DA-A903-C5EA34B1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K1 GOALPOSE · LEARNING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7ACAF-1437-4154-9060-CA1C4D29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비교를 가능하게 만든 고정점 — 54 obs · 12 actions · warm-start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1620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E5084-616C-4627-B7D6-856C6439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90BF9-D11D-4A9F-B259-CA4854C2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4014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CFC2E-7B20-4D47-91C0-E45E5325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5770C-8716-4704-A1AD-FD2E4E15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097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BC3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BC3CF"/>
                </a:solidFill>
                <a:latin typeface="Apple SD Gothic Neo"/>
                <a:ea typeface="Apple SD Gothic Neo"/>
                <a:cs typeface="Apple SD Gothic Neo"/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5F5E8-AD9E-49E7-978E-CB44DBAC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43075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FCB8D-5B61-4482-92C8-C0007442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BC3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BC3CF"/>
                </a:solidFill>
                <a:latin typeface="Apple SD Gothic Neo"/>
                <a:ea typeface="Apple SD Gothic Neo"/>
                <a:cs typeface="Apple SD Gothic Neo"/>
              </a:rPr>
              <a:t>leg 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49D71-692E-4857-A9F3-2C473FBE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43075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561D7-333B-47DA-B41D-DBBFD236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097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BC3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BC3CF"/>
                </a:solidFill>
                <a:latin typeface="Apple SD Gothic Neo"/>
                <a:ea typeface="Apple SD Gothic Neo"/>
                <a:cs typeface="Apple SD Gothic Neo"/>
              </a:rPr>
              <a:t>no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B9F46-181C-4C3E-81F6-73C4DBF5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43075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5EBD7-943E-4B73-B639-42A6AEB1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097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BC3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BC3CF"/>
                </a:solidFill>
                <a:latin typeface="Apple SD Gothic Neo"/>
                <a:ea typeface="Apple SD Gothic Neo"/>
                <a:cs typeface="Apple SD Gothic Neo"/>
              </a:rPr>
              <a:t>actor warm-start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10BACB-CBBA-438F-88FF-1DA7883C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34480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2B08ED-583E-4A91-BB42-31522228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685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8FF"/>
          </a:solidFill>
          <a:ln xmlns:a="http://schemas.openxmlformats.org/drawingml/2006/main" w="0">
            <a:solidFill>
              <a:srgbClr val="DDE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D9EFB1-58FF-441B-B7C9-C29A84A0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3F2437-BCDB-4C6D-B86C-BF9066F5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Base PPO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8CF068-7183-4183-ADDA-21FC0CC5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38575"/>
            <a:ext cx="30670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GAE · adaptive KL</a:t>
            </a:r>
          </a:p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full-batch update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v0, v1, armA–D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F9BEEE-58F4-4E1C-8863-904D52F1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76550"/>
            <a:ext cx="34480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B9E95F-1509-47F0-9B6D-B43DCC28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28950"/>
            <a:ext cx="685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solidFill>
              <a:srgbClr val="DDF4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6CAA9B-6F99-4807-9C61-5A71B959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rPr>
              <a:t>채택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991193-C13D-419F-BB4E-27608855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290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RunnerV3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70744E-BCC3-4D91-AD37-1A6656A1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38575"/>
            <a:ext cx="30670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5 epochs × 4 minibatches</a:t>
            </a:r>
          </a:p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실제 symmetry loss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v3, v7, v8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865B9E-B525-4122-AA40-265D940A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36957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EDBC4D-133A-45C7-B75B-FFAE97CD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28950"/>
            <a:ext cx="685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E9DD"/>
          </a:solidFill>
          <a:ln xmlns:a="http://schemas.openxmlformats.org/drawingml/2006/main" w="0">
            <a:solidFill>
              <a:srgbClr val="FBE9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E9BB77-D128-4D64-AD7D-9FD5D59E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86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rPr>
              <a:t>분기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2097F8-B039-497D-A280-41A188C5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CrossQ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D3DBE3-A015-4452-ADD4-0FF72D72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38575"/>
            <a:ext cx="3314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off-policy replay</a:t>
            </a:r>
          </a:p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target network 없음</a:t>
            </a:r>
          </a:p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Batch Renormalization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v4 GetUp 전용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7AA0D1-D425-4BE9-B5EB-133B943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판단 기준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B1E33B-C2F8-471E-8CF9-E45F2280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769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GoalPose는 비교 가능성을 위해 입출력을 유지했고, task 성격이 달라진 GetUp만 알고리즘 stack을 분리했다.</a:t>
            </a:r>
          </a:p>
        </p:txBody>
      </p:sp>
    </p:spTree>
    <p:extLst>
      <p:ext uri="{BB962C8B-B14F-4D97-AF65-F5344CB8AC3E}">
        <p14:creationId xmlns:p14="http://schemas.microsoft.com/office/powerpoint/2010/main" val="1416506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8973F1-0A85-4373-940A-BA64C828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K1 GOALPOSE · LEARNING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EAC11-7E33-4512-ACDE-5E91A5FB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학습 버전 지도 — 기준선에서 단일변수, 통합안, 재설계로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00050" y="11620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D8657-E47C-4871-A9A9-4DAA8A23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666750" y="3181350"/>
            <a:ext cx="10810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318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D7DAE-5701-4D82-9C7E-7A4B8DF5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067EA-E746-4226-9BBA-65BEC011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18669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67D0A-46B7-48BF-8D26-AC269E9D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Seed / v0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89351-0F33-44D0-8AF6-00F58995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정확도 진입</a:t>
            </a:r>
          </a:p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Marching·낙상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952500" y="27241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139C0-1D6F-46BA-8F1D-97DFBBDB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05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A0360-2384-4C1C-BD70-6528CD9B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38550"/>
            <a:ext cx="18669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DDE8FF"/>
          </a:solidFill>
          <a:ln xmlns:a="http://schemas.openxmlformats.org/drawingml/2006/main" w="0">
            <a:solidFill>
              <a:srgbClr val="DDE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BD6DE0-852C-4D4B-AA80-EBA8E6FF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10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v1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F8C64-DD63-4114-B6B8-4152B48D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719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SE(2) constellation</a:t>
            </a:r>
          </a:p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안정성 개선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3124200" y="32575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1A53E1-94B6-4F4F-840A-E7435A31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05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266"/>
          </a:solidFill>
          <a:ln xmlns:a="http://schemas.openxmlformats.org/drawingml/2006/main" w="0">
            <a:solidFill>
              <a:srgbClr val="1282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70D1F-801F-4023-A0D3-539CBD8A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543050"/>
            <a:ext cx="18669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solidFill>
              <a:srgbClr val="DDF4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288BAA-F43C-4DA2-8D41-48D7DFA4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714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rPr>
              <a:t>A–D / v3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287B77-2B43-4289-BE2B-84740D0D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764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goal_reached 발견</a:t>
            </a:r>
          </a:p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통합 실패 분해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5295900" y="27241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49BB46-A2B0-4763-B22C-49D780E7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05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222"/>
          </a:solidFill>
          <a:ln xmlns:a="http://schemas.openxmlformats.org/drawingml/2006/main" w="0">
            <a:solidFill>
              <a:srgbClr val="C8622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C408AE-71C8-4352-A652-9A0C1804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38550"/>
            <a:ext cx="18669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BE9DD"/>
          </a:solidFill>
          <a:ln xmlns:a="http://schemas.openxmlformats.org/drawingml/2006/main" w="0">
            <a:solidFill>
              <a:srgbClr val="FBE9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F6F8F7-F368-4640-B0A0-4698CCD3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10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rPr>
              <a:t>v4–v6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103D51-6BF3-4DFD-874C-92A09337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719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GetUp · Kick · SafeFall</a:t>
            </a:r>
          </a:p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구현, 미학습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7467600" y="32575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20907C-C86E-432E-B202-78A3C49A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05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266"/>
          </a:solidFill>
          <a:ln xmlns:a="http://schemas.openxmlformats.org/drawingml/2006/main" w="0">
            <a:solidFill>
              <a:srgbClr val="1282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17CE95-7AF2-488E-8D88-1154817C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543050"/>
            <a:ext cx="18669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solidFill>
              <a:srgbClr val="DDF4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69C4F4-0235-4128-A799-9661C896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rPr>
              <a:t>E0 / v7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220D23-36F1-47D4-A7ED-9543A772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764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현재 best</a:t>
            </a:r>
          </a:p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2.7 cm · falls 2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9639300" y="27241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6A006A-3090-4498-B866-5DD61D36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38750"/>
            <a:ext cx="15716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B71EA8-9594-4680-B3CB-B229765F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4292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NEXT · G1–G4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7C936E-0828-4989-9E40-0930254F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772405">
            <a:off x="9552169" y="4248150"/>
            <a:ext cx="188876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1D46A7-B792-45BB-A584-00DCED0A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72405">
            <a:off x="10591800" y="51149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465AFF-D014-4D49-8875-70DB46BC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E3/F는 중간 계획이었고 G batch로 대체 · 독립적인 정식 v2 모델은 없음</a:t>
            </a:r>
          </a:p>
        </p:txBody>
      </p:sp>
    </p:spTree>
    <p:extLst>
      <p:ext uri="{BB962C8B-B14F-4D97-AF65-F5344CB8AC3E}">
        <p14:creationId xmlns:p14="http://schemas.microsoft.com/office/powerpoint/2010/main" val="11675298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2C79A1-2EA9-4036-B2C0-BBB36A05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K1 GOALPOSE · LEARNING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22D6F-41FF-4B7F-9C45-605B7923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Seed → v0: 자세는 맞췄지만 ‘멈춘 상태’를 만들지 못했다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11620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C94B0-262C-4A4A-904A-A1CE8007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183A2-A952-4FD8-842B-1E69241C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4290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E1F9E-2BAC-4DDF-A381-37D7B4FF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8FF"/>
          </a:solidFill>
          <a:ln xmlns:a="http://schemas.openxmlformats.org/drawingml/2006/main" w="0">
            <a:solidFill>
              <a:srgbClr val="DDE8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E54E4-4F8C-449C-941B-D41A204B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CDE0B-0215-4D0C-AAFD-49C2C063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Seed · zero-shot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F013A-ECC9-458A-98F1-8FD4FDD7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86025"/>
            <a:ext cx="3048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알고리즘</a:t>
            </a:r>
          </a:p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ParameterWalk, GoalPose 학습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pos 30.2 / 45.3 cm</a:t>
            </a:r>
          </a:p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heading 12.1° · falls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장점: 안정적 출발점</a:t>
            </a:r>
          </a:p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단점: 목표 pose gate 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56100-6FBF-419E-9239-35833587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3224213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E2947-7734-45A1-9650-2B185CBC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00550" y="31623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4346D-14D3-46BE-AF32-F6FBEED6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24000"/>
            <a:ext cx="47625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55CA1-D83B-4552-BC4D-4D42F3AF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76400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solidFill>
              <a:srgbClr val="DDF4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CA43D-09CC-4230-983C-63B1A111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335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rPr>
              <a:t>VALID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9D4B2-C60D-4A45-946E-C1B697A1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764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v0 · additive goal reward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56CD28-3142-4BD2-B1CD-AD9FF606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86025"/>
            <a:ext cx="438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r_pos = 2·exp(-d²/1.0)</a:t>
            </a:r>
          </a:p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r_heading = 1.5·exp(-θ²/0.4)</a:t>
            </a:r>
          </a:p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r_stop = -(v²+ω²), within 0.1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결과: pos 12.8 / 17.9 cm</a:t>
            </a:r>
          </a:p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heading 1.7° · falls 33</a:t>
            </a:r>
          </a:p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arrival speed 0.117 m/s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A845B0-B496-4425-9C87-2BB726C2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24000"/>
            <a:ext cx="2162175" cy="3390900"/>
          </a:xfrm>
          <a:prstGeom xmlns:a="http://schemas.openxmlformats.org/drawingml/2006/main" prst="roundRect">
            <a:avLst>
              <a:gd name="adj" fmla="val 3524"/>
            </a:avLst>
          </a:prstGeom>
          <a:solidFill xmlns:a="http://schemas.openxmlformats.org/drawingml/2006/main">
            <a:srgbClr val="F9E1E1"/>
          </a:solidFill>
          <a:ln xmlns:a="http://schemas.openxmlformats.org/drawingml/2006/main" w="0">
            <a:solidFill>
              <a:srgbClr val="F9E1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40D02B-012E-49EE-81A2-DDE9E980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752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판정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26798D-2F41-4FCB-9B27-8348C65C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90750"/>
            <a:ext cx="171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정확도 ↑</a:t>
            </a:r>
          </a:p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방향 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낙상 ×30</a:t>
            </a:r>
          </a:p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Marching 잔존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DC830B-B2B3-473F-9F22-A6A67C80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386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오차의 합 ≠</a:t>
            </a:r>
          </a:p>
          <a:p xmlns:a="http://schemas.openxmlformats.org/drawingml/2006/main">
            <a:pPr algn="l">
              <a:defRPr sz="135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성공 상태의 정의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125FBD-9F81-4EDD-BDAE-BB192C71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4014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D8A402-286A-4C35-91F5-7DA72428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EB6C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AEB6C4"/>
                </a:solidFill>
                <a:latin typeface="Apple SD Gothic Neo"/>
                <a:ea typeface="Apple SD Gothic Neo"/>
                <a:cs typeface="Apple SD Gothic Neo"/>
              </a:rPr>
              <a:t>이번 질문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3E131C-2E71-43A0-B255-67EDC146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3530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위치·방향·정지를 각각 줄이면 GoalPose가 자연스럽게 해결되는가? → 아니었다.</a:t>
            </a:r>
          </a:p>
        </p:txBody>
      </p:sp>
    </p:spTree>
    <p:extLst>
      <p:ext uri="{BB962C8B-B14F-4D97-AF65-F5344CB8AC3E}">
        <p14:creationId xmlns:p14="http://schemas.microsoft.com/office/powerpoint/2010/main" val="5121183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053888-CD3B-4DA3-9CB9-999E6E13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K1 GOALPOSE · LEARNING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3CE04-16E5-42E7-9DCE-34C5A681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v1: 세 reward를 하나의 SE(2) 기하로 결합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11620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AE7EB-660C-48DA-8040-ACFE58B9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3E741-B7AA-490F-8093-384BB05C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14014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53706-BF00-4268-BA71-56F4A55E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92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 = 3.5 · exp[-0.2 · (d² + 2 · 1² · (1 − cos θ))]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0EED1-9739-416D-BFE5-A4F7FC6E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FC7D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FC7D4"/>
                </a:solidFill>
                <a:latin typeface="Apple SD Gothic Neo"/>
                <a:ea typeface="Apple SD Gothic Neo"/>
                <a:cs typeface="Apple SD Gothic Neo"/>
              </a:rPr>
              <a:t>constellation: 위치 m와 방향 rad를 가상 점 배치 오차로 한 공간에서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40A2FD-5EFA-437A-B933-25F6281A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342900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E14C1-4821-4F02-BF3C-3871C6A5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704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8FF"/>
          </a:solidFill>
          <a:ln xmlns:a="http://schemas.openxmlformats.org/drawingml/2006/main" w="0">
            <a:solidFill>
              <a:srgbClr val="DDE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DD349-ADA6-4941-8B75-167D9E3F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PAPER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995D6-B008-4BDC-8FC1-DAB99591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Source / 왜 채택?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B32C7-EAAA-4216-81AC-B1689ACF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0025"/>
            <a:ext cx="304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No More Marching</a:t>
            </a:r>
          </a:p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속도 command 대신 목표 SE(2)를 직접 최적화. 분리 reward의 scale 경쟁을 기하로 구조화.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7A0444-B844-46D1-9C8D-C1EA9AC0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342900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75B64D-261B-4478-9AE8-1D83DEAC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00400"/>
            <a:ext cx="647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8FF"/>
          </a:solidFill>
          <a:ln xmlns:a="http://schemas.openxmlformats.org/drawingml/2006/main" w="0">
            <a:solidFill>
              <a:srgbClr val="DDE8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BF288-548B-46B2-8AD3-6D700A20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575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41C72-C139-4B4D-8654-0E30E1D1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00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무엇을 봤나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597388-73C8-4FEB-8D58-57A45C4B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10025"/>
            <a:ext cx="304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30 s episode · category goal</a:t>
            </a:r>
          </a:p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stand에서는 gait clock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위치·heading·falls·arrival speed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AA4FA4-414B-48A2-A9E5-E1F835CF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48000"/>
            <a:ext cx="3476625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CDD314-8786-46CB-9923-DF304A4A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00400"/>
            <a:ext cx="800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solidFill>
              <a:srgbClr val="DDF4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8B13F9-ACAE-4234-B495-E4A356A4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575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rPr>
              <a:t>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BF9DF6-23F2-4A2B-BB95-EB9C0FB3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00450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결과 / 한계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B68DFD-DEE5-4EF9-8AC7-8224BEAF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10025"/>
            <a:ext cx="3095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20k: pos 8.5 / 16.4 cm</a:t>
            </a:r>
          </a:p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heading 3.6° · falls 4</a:t>
            </a:r>
          </a:p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strict 12.4%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안정성 ↑, exact stop은 부족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335E04-EEA1-46B0-BFFC-78D009DF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1401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rPr>
              <a:t>운영 교훈: 초기 auto_stop이 너무 빨랐다 — 더 보수적인 patience/min_iters가 필요</a:t>
            </a:r>
          </a:p>
        </p:txBody>
      </p:sp>
    </p:spTree>
    <p:extLst>
      <p:ext uri="{BB962C8B-B14F-4D97-AF65-F5344CB8AC3E}">
        <p14:creationId xmlns:p14="http://schemas.microsoft.com/office/powerpoint/2010/main" val="17379482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98D199-C6DA-45D1-902B-77896B37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K1 GOALPOSE · LEARNING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78888-6AA6-4B73-9A39-F4636FB0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armA/B/C: 단일변수 실험에서 goal_reached만 큰 효과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1620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C3065-880E-4541-8F20-C7AB5522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00050" y="1562100"/>
          <a:ext xmlns:a="http://schemas.openxmlformats.org/drawingml/2006/main" cx="5953125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be7ab83f594d0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FCC49-42A8-4858-9A42-32C62B98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62100"/>
            <a:ext cx="50387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641DB-3C90-4CCB-8484-8D9C353A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52600"/>
            <a:ext cx="4657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A · 그대로 연장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240E8-C32F-45AD-8857-39B554A5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62175"/>
            <a:ext cx="4657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7.6 cm · strict 13.9% · falls 34</a:t>
            </a:r>
          </a:p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not_stopped 33.4% → 시간만으로는 해결 안 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FB03D-2BB7-4066-A21A-F0426B9D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33700"/>
            <a:ext cx="5038725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solidFill>
              <a:srgbClr val="DDF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9A3CA-AE85-4B41-8556-C55569A6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24200"/>
            <a:ext cx="4657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rPr>
              <a:t>B · goal_reached +1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CE887-A8B5-4BB2-979F-4DBA4EF8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33775"/>
            <a:ext cx="4657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3.9 cm · strict 52.8% · falls 37</a:t>
            </a:r>
          </a:p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not_stopped 0.5%, never_arrived 0.2%</a:t>
            </a:r>
          </a:p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→ 원하는 종착 상태를 per-step으로 보상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4EFFE-2947-44C7-9FA8-6BA64798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50387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63056-15A1-4169-8626-76BAE160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86300"/>
            <a:ext cx="4657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C · PD update 200 Hz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81FDE-E495-46CD-8F52-2EBD9F7C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4657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8.3 cm · strict 13.0% · falls 10</a:t>
            </a:r>
          </a:p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부드럽고 덜 넘어졌지만 정밀도는 악화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3EB023-47B8-47AE-A683-E63E1417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강한 인과 주장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DC69A-B6E0-4C8D-9B43-FC6EFDED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483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rPr>
              <a:t>A와 B의 차이는 reward 한 항목 — 이후 모든 성공 계열의 backbone</a:t>
            </a:r>
          </a:p>
        </p:txBody>
      </p:sp>
    </p:spTree>
    <p:extLst>
      <p:ext uri="{BB962C8B-B14F-4D97-AF65-F5344CB8AC3E}">
        <p14:creationId xmlns:p14="http://schemas.microsoft.com/office/powerpoint/2010/main" val="9715037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179330-AB16-4A34-8318-2C633C71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K1 GOALPOSE · LEARNING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8B58B-5E64-4FF7-B6C9-078F24B9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armD → v3: 통합 실패는 회복했지만, 보수적인 정책이 됐다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1620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6BBC4-2FD1-4C0C-94DB-C088A97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9FF7D-35CA-4877-9D48-FFA58CEB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9E1E1"/>
          </a:solidFill>
          <a:ln xmlns:a="http://schemas.openxmlformats.org/drawingml/2006/main" w="0">
            <a:solidFill>
              <a:srgbClr val="F9E1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82B2D-253F-4011-998A-A66BEC73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9E1E1"/>
          </a:solidFill>
          <a:ln xmlns:a="http://schemas.openxmlformats.org/drawingml/2006/main" w="0">
            <a:solidFill>
              <a:srgbClr val="F9E1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558AC-5F0C-4BB9-A182-2F83A62D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INVALID CAUSAL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B9071-A731-4D4C-B371-8DEF3E0E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armD · 12개 동시 변경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74F38-992A-44C6-9BAB-247CBDDB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05075"/>
            <a:ext cx="45720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noise · bias · hold · goal range · resample · push · armature · PD×2 · posture · reached · category weights…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pos 24.3 / 49.5 cm</a:t>
            </a:r>
          </a:p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strict 6.2% · never_arrived 60% · falls 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8004E-5C50-4D53-A31F-08370B3A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3376613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FD723-F17F-4493-9C52-762608E5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00800" y="33147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47098-0380-4C17-B35D-810E0CC0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43050"/>
            <a:ext cx="51339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DDE8FF"/>
          </a:solidFill>
          <a:ln xmlns:a="http://schemas.openxmlformats.org/drawingml/2006/main" w="0">
            <a:solidFill>
              <a:srgbClr val="DDE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D516D-7226-4D16-ABB0-06C0C925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95450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solidFill>
              <a:srgbClr val="DDF4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8E245-3A94-4D56-9E10-88B0358B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526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rPr>
              <a:t>VALID 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355261-D8CA-40A1-886D-A8F55F2C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752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v3 · RunnerV3 + symmetry + curriculum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7C0B25-35E5-4247-9FC0-0E6D2246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05075"/>
            <a:ext cx="4752975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5 epochs × 4 minibatches</a:t>
            </a:r>
          </a:p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symmetry_coef 0.5</a:t>
            </a:r>
          </a:p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distance curriculum 0.35</a:t>
            </a:r>
          </a:p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(timed reward는 OFF)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pos 13.6 / 30.1 cm · strict 17.5%</a:t>
            </a:r>
          </a:p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falls 3 · never_arrived 49.9%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09F6BD-EB52-4C6C-A206-6B3CE13A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14014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81D29A-A63B-48D4-948C-F2E9B5A2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EB6C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AEB6C4"/>
                </a:solidFill>
                <a:latin typeface="Apple SD Gothic Neo"/>
                <a:ea typeface="Apple SD Gothic Neo"/>
                <a:cs typeface="Apple SD Gothic Neo"/>
              </a:rPr>
              <a:t>판단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29435-A29D-4097-9EE2-235EE54F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38800"/>
            <a:ext cx="1033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mini-batch PPO + symmetry는 계승 · PD×2와 거리 curriculum은 폐기</a:t>
            </a:r>
          </a:p>
        </p:txBody>
      </p:sp>
    </p:spTree>
    <p:extLst>
      <p:ext uri="{BB962C8B-B14F-4D97-AF65-F5344CB8AC3E}">
        <p14:creationId xmlns:p14="http://schemas.microsoft.com/office/powerpoint/2010/main" val="2072150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9C0E79-E30A-432D-9535-ACCF4AA7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K1 GOALPOSE · LEARNING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C832E-11E5-4DD9-A7B7-C841621B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v4–v6는 GoalPose 후속 점수가 아니라 ‘다른 task’의 구현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00050" y="11620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D0BDF-45D9-4A7C-8604-914B5150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29CF8-5D1C-4382-B288-95FFC62E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3448050" cy="411480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BD371-D47F-4853-8521-71E2CF0A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E9DD"/>
          </a:solidFill>
          <a:ln xmlns:a="http://schemas.openxmlformats.org/drawingml/2006/main" w="0">
            <a:solidFill>
              <a:srgbClr val="FBE9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3D99F-6A2A-4B96-82E2-9E1131C8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rPr>
              <a:t>구현만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D8F4F-C772-4DCE-8416-A4A4EB2F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v4 · GetUp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B1866-222B-42BF-BBEA-370D5AEC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30670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알고리즘</a:t>
            </a:r>
          </a:p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CrossQ · replay · 22 DOF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reward</a:t>
            </a:r>
          </a:p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posture +2 · upright +1</a:t>
            </a:r>
          </a:p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head contact −1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볼 eval</a:t>
            </a:r>
          </a:p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getup success · upright hold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장점: sample reuse</a:t>
            </a:r>
          </a:p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단점: 별도 stack 복잡도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090C9-9235-403B-8A52-A31B2C27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3448050" cy="411480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A006E7-7675-49EA-A469-BBA5C0D2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1450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E9DD"/>
          </a:solidFill>
          <a:ln xmlns:a="http://schemas.openxmlformats.org/drawingml/2006/main" w="0">
            <a:solidFill>
              <a:srgbClr val="FBE9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EDFFE-CC0B-4DFF-98D8-48109C19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716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rPr>
              <a:t>구현만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E88C0A-4057-40B3-866B-9741F85E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v5 · Kick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ACA289-4707-44C4-85F7-EFA23154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24125"/>
            <a:ext cx="30670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알고리즘</a:t>
            </a:r>
          </a:p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RunnerV3 PPO · 12 DOF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reward</a:t>
            </a:r>
          </a:p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ball direction +10</a:t>
            </a:r>
          </a:p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approach +10 · alignment +1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볼 eval</a:t>
            </a:r>
          </a:p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kick success · ball speed · falls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장점: T1 구현 재사용</a:t>
            </a:r>
          </a:p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단점: switching reward 불연속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16AC68-3D56-4CAC-965F-930DF9DD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695700" cy="41148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D1F7C-4BFA-495F-AF84-A730BD4C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1450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E9DD"/>
          </a:solidFill>
          <a:ln xmlns:a="http://schemas.openxmlformats.org/drawingml/2006/main" w="0">
            <a:solidFill>
              <a:srgbClr val="FBE9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7502EC-F8CE-4154-AF5C-FFACD977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716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rPr>
              <a:t>구현만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2938F-2E66-4D16-99C9-3FD362AD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1455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v6 · SafeFall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607F99-4495-412C-AFAD-16A1CAF0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3314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알고리즘</a:t>
            </a:r>
          </a:p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RunnerV3 PPO · 22 DOF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reward</a:t>
            </a:r>
          </a:p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impact −2 · head −10</a:t>
            </a:r>
          </a:p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brace +0.5 · settle +1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볼 eval</a:t>
            </a:r>
          </a:p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peak force vs zero-action</a:t>
            </a:r>
          </a:p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head contact · settle 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장점: 피해 최소화</a:t>
            </a:r>
          </a:p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단점: sim contact 현실성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4887B1-7BA8-492A-AD53-3F42D3EB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발표 규칙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5B0534-7571-4651-B0F7-FF507F34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293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py_compile/config wiring 통과 ≠ 학습 성공. 세 버전 모두 학습·sim eval 결과가 없다.</a:t>
            </a:r>
          </a:p>
        </p:txBody>
      </p:sp>
    </p:spTree>
    <p:extLst>
      <p:ext uri="{BB962C8B-B14F-4D97-AF65-F5344CB8AC3E}">
        <p14:creationId xmlns:p14="http://schemas.microsoft.com/office/powerpoint/2010/main" val="17994779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9A8F6-6F63-4E07-80B3-DC38FCE1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K1 GOALPOSE · LEARNING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0E0FB-2F3C-44F4-BC5B-8824B49A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E0@6200: 모든 category에서 3 cm 안팎, 현재의 frozen baseline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1620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5946E-3E64-49E8-A4D2-0E51E78F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ab0bf26ae4c35"/>
          <a:srcRect xmlns:a="http://schemas.openxmlformats.org/drawingml/2006/main" l="12179" t="0" r="121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485900"/>
            <a:ext cx="5610225" cy="417195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ECA7A-6E0A-4866-9F86-C5805E6E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6102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FFE56-072B-49DD-8C6C-742FBAC8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53050"/>
            <a:ext cx="5229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실제 winner rollout frame · sim telemetry overlay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3A491-DAE2-46A1-8DE6-7443A437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23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solidFill>
              <a:srgbClr val="DDF4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E1406-A82A-46CA-8329-C70F900E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rPr>
              <a:t>VALID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D180A-C9D6-4B15-88DC-ADB565C5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rPr>
              <a:t>2.72 cm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A3FA8-588C-449F-BE6A-6251ED66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position median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32462-9CCC-4A1B-BEAA-BA889987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5.01 cm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85C5C-4DDD-4C89-9111-ECC11B35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position p90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14B22-B69B-40A2-82F7-65D33E15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956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2.52°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80C791-493E-40F5-82CF-60276FEE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957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heading median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45333F-8349-4DB8-9000-6F6F3E8F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89.3%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FF7F03-822B-4177-AA09-806044A6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strict success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372775-4C18-4792-88D2-BD43B011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1719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rPr>
              <a:t>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32890C-C3A0-4129-8366-8B15E309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72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never arrived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3CB873-A72C-4893-9412-D83A39A4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5295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9E1E1"/>
          </a:solidFill>
          <a:ln xmlns:a="http://schemas.openxmlformats.org/drawingml/2006/main" w="0">
            <a:solidFill>
              <a:srgbClr val="F9E1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19AAAC-D148-4569-A698-B8E4464C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남은 실패: falls =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5D5B20-AB0D-4753-A00D-8D2757BB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4102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정확도 gate 3개 통과 · safety gate만 미통과</a:t>
            </a:r>
          </a:p>
        </p:txBody>
      </p:sp>
    </p:spTree>
    <p:extLst>
      <p:ext uri="{BB962C8B-B14F-4D97-AF65-F5344CB8AC3E}">
        <p14:creationId xmlns:p14="http://schemas.microsoft.com/office/powerpoint/2010/main" val="18914742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091F88-8541-43A4-B803-32789B7E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K1 GOALPOSE · LEARNING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23E28-0D6C-44D3-989E-90BE0C8C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E0의 성과는 강하다 — 그러나 ‘무엇 때문인지’는 아직 분리되지 않았다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11620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B7F90-E990-4992-B0E4-E3544FED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6A33F-34A8-45C8-B330-066F7735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3050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solidFill>
              <a:srgbClr val="DDF4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6AF39-F434-4E3B-9B02-C7CF0722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55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rPr>
              <a:t>armB backbone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32203-F0A3-482E-8B5B-9AF3804E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constellation + goal_reached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2BEE4-97B4-4E7E-9AB6-4B612085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2909888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5A3"/>
          </a:solidFill>
          <a:ln xmlns:a="http://schemas.openxmlformats.org/drawingml/2006/main" w="0">
            <a:solidFill>
              <a:srgbClr val="8C95A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A83A8-DCF4-4260-A3DD-07D2DE9C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276600" y="28479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C95A3"/>
          </a:solidFill>
          <a:ln xmlns:a="http://schemas.openxmlformats.org/drawingml/2006/main" w="0">
            <a:solidFill>
              <a:srgbClr val="8C95A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97322-8905-4E89-970F-158B01B8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47900"/>
            <a:ext cx="23050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DE8FF"/>
          </a:solidFill>
          <a:ln xmlns:a="http://schemas.openxmlformats.org/drawingml/2006/main" w="0">
            <a:solidFill>
              <a:srgbClr val="DDE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BDF48-7D17-4B63-8D87-C5CB65BE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955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RunnerV3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8BBE2-5ACF-47DB-B302-73A617E4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099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mini-batch PPO + symmetry 0.5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9ABAB-E847-4743-93A0-1151494B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09888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5A3"/>
          </a:solidFill>
          <a:ln xmlns:a="http://schemas.openxmlformats.org/drawingml/2006/main" w="0">
            <a:solidFill>
              <a:srgbClr val="8C95A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75D49-1A46-469C-A1EA-81C94B63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305550" y="28479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C95A3"/>
          </a:solidFill>
          <a:ln xmlns:a="http://schemas.openxmlformats.org/drawingml/2006/main" w="0">
            <a:solidFill>
              <a:srgbClr val="8C95A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8F3CC-335C-43EF-884D-44CC80A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47900"/>
            <a:ext cx="23050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5DF3C-1336-4F6A-8475-46816229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955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arms-down URDF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1A723-4A83-4D62-861A-37E7436A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99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yaw inertia 감소 가설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2CE5EF-28D7-464E-8BD2-D62D6E4D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2909888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5A3"/>
          </a:solidFill>
          <a:ln xmlns:a="http://schemas.openxmlformats.org/drawingml/2006/main" w="0">
            <a:solidFill>
              <a:srgbClr val="8C95A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8E2B23-9E11-4566-9F47-89725DD8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34500" y="28479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C95A3"/>
          </a:solidFill>
          <a:ln xmlns:a="http://schemas.openxmlformats.org/drawingml/2006/main" w="0">
            <a:solidFill>
              <a:srgbClr val="8C95A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C02D0-F029-455F-87C6-E9F60AD5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47900"/>
            <a:ext cx="23050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D789B6-0931-410A-9662-8ABE6AE2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955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E0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ED380D-F724-4993-BA7E-685C496A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99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CD3D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CCD3DE"/>
                </a:solidFill>
                <a:latin typeface="Apple SD Gothic Neo"/>
                <a:ea typeface="Apple SD Gothic Neo"/>
                <a:cs typeface="Apple SD Gothic Neo"/>
              </a:rPr>
              <a:t>2.7 cm · strict 89.3%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BE95BE-8219-4B0B-845A-CDE0F248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1401425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BE9DD"/>
          </a:solidFill>
          <a:ln xmlns:a="http://schemas.openxmlformats.org/drawingml/2006/main" w="0">
            <a:solidFill>
              <a:srgbClr val="FBE9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578093-F85C-4E33-BA3E-6A14817C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rPr>
              <a:t>허용되는 주장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F6EECE-66F5-4CC5-AD8A-7954023D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862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“E0 구성 전체가 현재 최고 baseline이다.”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CB8D13-0738-4B6B-ADCC-5D61FDF8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허용되지 않는 주장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2A93FC-F8F7-4CF0-B626-612B8122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149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“symmetry가 2.7 cm를 만들었다.” — arms/runner와 분리한 ablation이 없음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955A43-4493-4C13-AB6C-1A58A6D2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1401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확인 실험: arms-down과 runner를 고정하고 symmetry_coef 0 vs 0.5</a:t>
            </a:r>
          </a:p>
        </p:txBody>
      </p:sp>
    </p:spTree>
    <p:extLst>
      <p:ext uri="{BB962C8B-B14F-4D97-AF65-F5344CB8AC3E}">
        <p14:creationId xmlns:p14="http://schemas.microsoft.com/office/powerpoint/2010/main" val="19606020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5838C0-AC7F-44DB-A45C-59A708A8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K1 GOALPOSE · LEARNING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CB124-7B9F-491C-964C-59B5943F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E1/E2/V7_full: 숫자는 존재하지만 가설 판정에는 쓸 수 없다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400050" y="11620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CBE58-8AAD-43DB-B57E-BDC37F2E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53F4A-3AF9-4DF8-8724-4C74EF74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571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B94CE-88E7-463B-8D3E-7AEAA72E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97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D6CDD-1949-41F1-91B2-03F8135F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504950"/>
            <a:ext cx="2714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C439D-43E2-424C-BF43-04AEC269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09725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원래 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2CA8A-6F1D-4AA7-B395-9197D4DE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04950"/>
            <a:ext cx="2047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3A648-9916-4F3B-A37E-4D68670D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0972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보이는 숫자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935B5-E70A-46AC-B600-B177A3E9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5049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F83B2-0DDA-458B-875B-8B981937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6097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오염 원인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4A387-0ECC-48C4-9D51-3270B4EF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1504950"/>
            <a:ext cx="1828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399D0B-3179-4DD1-B77F-7881B3E5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60972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허용 결론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E78A3-91EB-44BB-887F-D95586B8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571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4AB300-7BE4-40F1-BE91-6033FD7F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05025"/>
            <a:ext cx="1381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E1_path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00CD1D-0340-44E5-8954-98180928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000250"/>
            <a:ext cx="2714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2FC23D-9806-4B9A-80FD-E46A074F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105025"/>
            <a:ext cx="2524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path가 정확도를 유지하며</a:t>
            </a:r>
          </a:p>
          <a:p xmlns:a="http://schemas.openxmlformats.org/drawingml/2006/main">
            <a:pPr algn="l">
              <a:defRPr sz="1050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속도를 높이는가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7C48F-5D58-46CF-AD09-0F511A63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00250"/>
            <a:ext cx="20478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A3CE39-C2DD-4119-92A0-B8B68118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05025"/>
            <a:ext cx="185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pos 53.5 cm</a:t>
            </a:r>
          </a:p>
          <a:p xmlns:a="http://schemas.openxmlformats.org/drawingml/2006/main">
            <a:pPr algn="l">
              <a:defRPr sz="1050" b="0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falls 346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8A3A63-C580-48FD-9D19-02F2399E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00250"/>
            <a:ext cx="3238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D41178-E95F-44AE-8B32-69C81EAD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105025"/>
            <a:ext cx="304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재평가 사이 lookahead floor</a:t>
            </a:r>
          </a:p>
          <a:p xmlns:a="http://schemas.openxmlformats.org/drawingml/2006/main">
            <a:pPr algn="l">
              <a:defRPr sz="1050" b="0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code semantics 변경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705D96-C9EC-4A74-AC4D-14E78997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000250"/>
            <a:ext cx="1828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4C19FB-B385-44B8-93D3-2C2692A3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105025"/>
            <a:ext cx="1638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가설 판정 불가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0AD8B0-BDFA-4340-871A-36872073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1571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25F4BF-728B-40AB-999E-A5C5F30E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14675"/>
            <a:ext cx="1381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E2_robust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AB6ECC-917A-4C71-987C-87BB4E35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009900"/>
            <a:ext cx="2714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B08CFF-4F58-4335-B957-D88FB5BC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2524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disturbance/flicker가</a:t>
            </a:r>
          </a:p>
          <a:p xmlns:a="http://schemas.openxmlformats.org/drawingml/2006/main">
            <a:pPr algn="l">
              <a:defRPr sz="1050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stress를 개선하는가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ACAD8F-8C19-4730-877A-A6EC2313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09900"/>
            <a:ext cx="20478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FB27F0-C3B5-420B-A136-06942C36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185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pos 34.5 cm</a:t>
            </a:r>
          </a:p>
          <a:p xmlns:a="http://schemas.openxmlformats.org/drawingml/2006/main">
            <a:pPr algn="l">
              <a:defRPr sz="1050" b="0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falls 125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0CC7C2-1809-4972-875D-B15F1D6B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009900"/>
            <a:ext cx="3238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4550C1-E53B-4B8B-BFE0-2696C599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114675"/>
            <a:ext cx="304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arm의 frozen config가 아닌</a:t>
            </a:r>
          </a:p>
          <a:p xmlns:a="http://schemas.openxmlformats.org/drawingml/2006/main">
            <a:pPr algn="l">
              <a:defRPr sz="1050" b="0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base config로 평가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14B423-D24E-48A9-B1E2-843AB1EA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009900"/>
            <a:ext cx="1828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879E40-323F-4329-9102-903BD7E1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114675"/>
            <a:ext cx="1638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가설 판정 불가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8412A9-73D6-4A44-BFB1-0E0BCFC2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9550"/>
            <a:ext cx="1571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7050CC-F9B1-4C02-B44F-7C52FE71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24325"/>
            <a:ext cx="1381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V7_full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4CD7EA-434B-46AD-B250-E0AA6F2B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019550"/>
            <a:ext cx="2714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9D1B8C-ECA7-4D14-BE01-A67A8DE7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124325"/>
            <a:ext cx="2524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path+robust+protect를</a:t>
            </a:r>
          </a:p>
          <a:p xmlns:a="http://schemas.openxmlformats.org/drawingml/2006/main">
            <a:pPr algn="l">
              <a:defRPr sz="1050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통합해도 유지되는가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5EF79F-5076-4DFC-84E7-2A64A0C8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19550"/>
            <a:ext cx="20478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3FD505-AEBC-4BFA-83B0-718101A0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24325"/>
            <a:ext cx="185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pos 41.9 cm</a:t>
            </a:r>
          </a:p>
          <a:p xmlns:a="http://schemas.openxmlformats.org/drawingml/2006/main">
            <a:pPr algn="l">
              <a:defRPr sz="1050" b="0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falls 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F3D295-E50E-41AE-A2F5-BE161BAB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019550"/>
            <a:ext cx="3238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1B8AF8-5D95-4FCA-BBB8-F5D98265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124325"/>
            <a:ext cx="304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E2와 같은 config lineage 문제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A6974D-FD34-4431-9610-50D8AD34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019550"/>
            <a:ext cx="1828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9E1677-2CA7-4905-B2C2-6778289C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124325"/>
            <a:ext cx="1638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가설 판정 불가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795B22-C42F-4447-9F5E-0AD45A83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53050"/>
            <a:ext cx="114014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ABBC9A-BC4D-4661-B16B-C1E5A9D9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EB6C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AEB6C4"/>
                </a:solidFill>
                <a:latin typeface="Apple SD Gothic Neo"/>
                <a:ea typeface="Apple SD Gothic Neo"/>
                <a:cs typeface="Apple SD Gothic Neo"/>
              </a:rPr>
              <a:t>교훈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22BC4C-82E4-4E85-990A-68FC5B91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86400"/>
            <a:ext cx="1033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같은 이름 ≠ 같은 treatment · 이후 ENV_CODE_SHA와 own-run config를 report에 기록</a:t>
            </a:r>
          </a:p>
        </p:txBody>
      </p:sp>
    </p:spTree>
    <p:extLst>
      <p:ext uri="{BB962C8B-B14F-4D97-AF65-F5344CB8AC3E}">
        <p14:creationId xmlns:p14="http://schemas.microsoft.com/office/powerpoint/2010/main" val="17450037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DB9487-7EC8-42EF-B48A-839AE512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K1 GOALPOSE · LEARNING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AFEE1-03FD-4355-B677-A39EB6EF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E3와 F batch: 실패 모델이 아니라, 실행 전 재설계된 가설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11620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72EBC-5716-48C5-B1D4-9BA1E488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800100" y="3200400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DEE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24C3A-4945-4A98-80A3-3B0C9769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222"/>
          </a:solidFill>
          <a:ln xmlns:a="http://schemas.openxmlformats.org/drawingml/2006/main" w="0">
            <a:solidFill>
              <a:srgbClr val="C8622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7A375-5E4B-419C-BCD8-86BFA476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rPr>
              <a:t>E3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C41CA-D241-45A4-9C2F-07A27B4D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wide goal</a:t>
            </a:r>
          </a:p>
          <a:p xmlns:a="http://schemas.openxmlformats.org/drawingml/2006/main">
            <a:pPr algn="ctr">
              <a:defRPr sz="12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no curriculum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D3EAF-138E-46C5-9AD1-4CA78386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4795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89700-D5C1-4104-9DD5-ED84C463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rPr>
              <a:t>launch 전 보류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DBF62-E126-44CC-8D24-CAEA1677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95A3"/>
          </a:solidFill>
          <a:ln xmlns:a="http://schemas.openxmlformats.org/drawingml/2006/main" w="0">
            <a:solidFill>
              <a:srgbClr val="8C95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D07CA-CE78-453E-8EF2-40DA379D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385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DA690-E014-4F12-8293-D2990DE8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38600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final-window</a:t>
            </a:r>
          </a:p>
          <a:p xmlns:a="http://schemas.openxmlformats.org/drawingml/2006/main">
            <a:pPr algn="ctr">
              <a:defRPr sz="12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timed reward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6CF05-BB04-4187-9635-666541DA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62915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AABDB-7D93-4A92-B0AF-992B1F06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863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미검증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AC000-A589-4537-9A1F-10B9BCE6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F699AA-0060-4230-8170-4C35D520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57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F2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5CAB5-39AA-423D-AEC2-2BC05801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57400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grid path</a:t>
            </a:r>
          </a:p>
          <a:p xmlns:a="http://schemas.openxmlformats.org/drawingml/2006/main">
            <a:pPr algn="ctr">
              <a:defRPr sz="12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+dwell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CC49BB-F409-48B8-8D9E-262C5F97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4795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8FF"/>
          </a:solidFill>
          <a:ln xmlns:a="http://schemas.openxmlformats.org/drawingml/2006/main" w="0">
            <a:solidFill>
              <a:srgbClr val="DDE8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738B6C-8FBB-4BAE-AC52-ED7DF1A8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0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G1로 대체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5C68D5-F733-4001-B647-AED3C5C3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D53E1D-8E4D-4419-820F-00461626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F3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BD375D-E5D1-4A64-A816-6BF48BDC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38600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stress flicker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7D62F6-0F5B-42C9-9241-8FB26EB9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2915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8FF"/>
          </a:solidFill>
          <a:ln xmlns:a="http://schemas.openxmlformats.org/drawingml/2006/main" w="0">
            <a:solidFill>
              <a:srgbClr val="DDE8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2136AA-31C3-4E7E-814E-102B2DCB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863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G2로 대체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0480D2-2922-4CE0-B28C-0006395B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95A3"/>
          </a:solidFill>
          <a:ln xmlns:a="http://schemas.openxmlformats.org/drawingml/2006/main" w="0">
            <a:solidFill>
              <a:srgbClr val="8C95A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9673C3-0BBE-498C-8D31-3BB41633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657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F4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257DDA-1DBD-4AA3-A1BE-DA5D6A49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57400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TBD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FE750A-7BE0-4D83-BF2C-A152B598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4795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64980B-626A-445B-8CAE-50ADD8CA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70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미정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ED2546-4CF7-49D7-8AF5-5A633F86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4014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F6E8B9-E5C1-40F2-9982-B8EA6340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3402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판단 근거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8C431E-458D-4A26-9379-D5F8893E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483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넓히기만 하는 것보다 curriculum·path·stress를 E0 위에서 각각 검증하도록 G batch로 재구성</a:t>
            </a:r>
          </a:p>
        </p:txBody>
      </p:sp>
    </p:spTree>
    <p:extLst>
      <p:ext uri="{BB962C8B-B14F-4D97-AF65-F5344CB8AC3E}">
        <p14:creationId xmlns:p14="http://schemas.microsoft.com/office/powerpoint/2010/main" val="10926558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01D7C4-94C2-46D7-832C-34A5EA94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K1 GOALPOSE · LEARNING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A59C1-BAE4-4114-98BE-37689BCA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Eval은 점수표가 아니라 ‘다음 실험을 고르는 진단기’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00050" y="11620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A79CD-E687-41E0-8E5B-296A1556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ED6B5-0725-4CD1-9969-635E0F4F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2609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solidFill>
              <a:srgbClr val="DDF4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DCC9F-845C-4CCD-87A1-4EF55702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pos med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8505C-E1AA-4199-ADE1-D8B27540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rPr>
              <a:t>≤5 cm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88BAD-B3B5-4336-BE72-79CA9B0D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485900"/>
            <a:ext cx="2609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DE8FF"/>
          </a:solidFill>
          <a:ln xmlns:a="http://schemas.openxmlformats.org/drawingml/2006/main" w="0">
            <a:solidFill>
              <a:srgbClr val="DDE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BC9CE-FFD1-49B8-A904-BF646C11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pos p90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D8991-42E8-466D-AE8F-01385FB4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431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≤10 cm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1A980-A22B-4F77-8DA6-C15270DA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85900"/>
            <a:ext cx="2609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3C59E-2307-4372-B923-CF216F77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heading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FC58B-F8DA-4333-9E0E-9A1A4D5F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≤10°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6F583-104E-4457-A057-435133E3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85900"/>
            <a:ext cx="2609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9E1E1"/>
          </a:solidFill>
          <a:ln xmlns:a="http://schemas.openxmlformats.org/drawingml/2006/main" w="0">
            <a:solidFill>
              <a:srgbClr val="F9E1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6F5D4B-00D2-4DBC-B7A1-799A7967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57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falls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BB6082-FAD0-46A5-AB24-185B8557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431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71AB8E-D5FE-4D19-976F-F5D4B4CC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Failure mode → 다음에 의심할 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262371-E1D9-4207-B2FB-7EAC3D6C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1581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E9DD"/>
          </a:solidFill>
          <a:ln xmlns:a="http://schemas.openxmlformats.org/drawingml/2006/main" w="0">
            <a:solidFill>
              <a:srgbClr val="FBE9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4723F4-C255-4414-B622-0065E76A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0995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rPr>
              <a:t>not_stopped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2CF156-D9FD-4DD9-8DC0-56EE413B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4550" y="3481388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5A3"/>
          </a:solidFill>
          <a:ln xmlns:a="http://schemas.openxmlformats.org/drawingml/2006/main" w="0">
            <a:solidFill>
              <a:srgbClr val="8C95A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FBFA02-AD88-4D4B-8AD4-BDC208A5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571750" y="34194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C95A3"/>
          </a:solidFill>
          <a:ln xmlns:a="http://schemas.openxmlformats.org/drawingml/2006/main" w="0">
            <a:solidFill>
              <a:srgbClr val="8C95A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A94BBE-2A22-45F5-86A8-ADF3D8B7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909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terminal condition / gait clock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7D9EC9-141C-4764-9297-4485FD1D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1581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8FF"/>
          </a:solidFill>
          <a:ln xmlns:a="http://schemas.openxmlformats.org/drawingml/2006/main" w="0">
            <a:solidFill>
              <a:srgbClr val="DDE8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104F94-07E7-454E-BDC5-82DE0BF2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1955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heading_only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AE8C2E-85F6-4DD8-AABB-142F877D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4550" y="4090988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5A3"/>
          </a:solidFill>
          <a:ln xmlns:a="http://schemas.openxmlformats.org/drawingml/2006/main" w="0">
            <a:solidFill>
              <a:srgbClr val="8C95A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BC6FA4-8925-4A07-9046-EC0F517C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571750" y="40290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C95A3"/>
          </a:solidFill>
          <a:ln xmlns:a="http://schemas.openxmlformats.org/drawingml/2006/main" w="0">
            <a:solidFill>
              <a:srgbClr val="8C95A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6A157F-E5A9-48B6-97D3-0ED8505D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005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회전 비중 / angular gate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D02A76-4F02-4919-B252-B16380F8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1581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9E1E1"/>
          </a:solidFill>
          <a:ln xmlns:a="http://schemas.openxmlformats.org/drawingml/2006/main" w="0">
            <a:solidFill>
              <a:srgbClr val="F9E1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92EAAB-9D57-4B01-961A-E79FFAFD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2915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arrived_then_left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DAAFC0-69E0-4BAD-9EAA-389A3E13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4550" y="4700588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5A3"/>
          </a:solidFill>
          <a:ln xmlns:a="http://schemas.openxmlformats.org/drawingml/2006/main" w="0">
            <a:solidFill>
              <a:srgbClr val="8C95A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4382FF-3548-4017-A305-DA7FBF83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571750" y="46386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C95A3"/>
          </a:solidFill>
          <a:ln xmlns:a="http://schemas.openxmlformats.org/drawingml/2006/main" w="0">
            <a:solidFill>
              <a:srgbClr val="8C95A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BA93C1-F955-4D16-9ACC-0B03FD23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0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absorbing state / resample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689760-57BD-4F78-BA67-B431DB8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1581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9E1E1"/>
          </a:solidFill>
          <a:ln xmlns:a="http://schemas.openxmlformats.org/drawingml/2006/main" w="0">
            <a:solidFill>
              <a:srgbClr val="F9E1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E6CC71-61A1-43E4-88DA-CCED124D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never_arrived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20D286-3783-4735-AE19-69BA5CEB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4550" y="5310188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5A3"/>
          </a:solidFill>
          <a:ln xmlns:a="http://schemas.openxmlformats.org/drawingml/2006/main" w="0">
            <a:solidFill>
              <a:srgbClr val="8C95A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1C7EEB-CEA3-4A1B-9630-FE9679E8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571750" y="52482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C95A3"/>
          </a:solidFill>
          <a:ln xmlns:a="http://schemas.openxmlformats.org/drawingml/2006/main" w="0">
            <a:solidFill>
              <a:srgbClr val="8C95A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BAE517-344E-47B5-9D40-16D163C1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197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far-field gradient / PD / curriculum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D230E3-8969-4A3C-B37F-1924F311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95600"/>
            <a:ext cx="4695825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FB7E48-E7AA-4F6D-9AC7-0682FDC4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623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분포로 봐야 하는 항목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B4E62A-2B93-40B6-8C50-421199A8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1475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2D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BD2DE"/>
                </a:solidFill>
                <a:latin typeface="Apple SD Gothic Neo"/>
                <a:ea typeface="Apple SD Gothic Neo"/>
                <a:cs typeface="Apple SD Gothic Neo"/>
              </a:rPr>
              <a:t>• goal category / start distance</a:t>
            </a:r>
          </a:p>
          <a:p xmlns:a="http://schemas.openxmlformats.org/drawingml/2006/main">
            <a:pPr algn="l">
              <a:defRPr sz="1350" b="0">
                <a:solidFill>
                  <a:srgbClr val="CBD2D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BD2DE"/>
                </a:solidFill>
                <a:latin typeface="Apple SD Gothic Neo"/>
                <a:ea typeface="Apple SD Gothic Neo"/>
                <a:cs typeface="Apple SD Gothic Neo"/>
              </a:rPr>
              <a:t>• closest approach / overshoot</a:t>
            </a:r>
          </a:p>
          <a:p xmlns:a="http://schemas.openxmlformats.org/drawingml/2006/main">
            <a:pPr algn="l">
              <a:defRPr sz="1350" b="0">
                <a:solidFill>
                  <a:srgbClr val="CBD2D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BD2DE"/>
                </a:solidFill>
                <a:latin typeface="Apple SD Gothic Neo"/>
                <a:ea typeface="Apple SD Gothic Neo"/>
                <a:cs typeface="Apple SD Gothic Neo"/>
              </a:rPr>
              <a:t>• along-track / cross-track</a:t>
            </a:r>
          </a:p>
          <a:p xmlns:a="http://schemas.openxmlformats.org/drawingml/2006/main">
            <a:pPr algn="l">
              <a:defRPr sz="1350" b="0">
                <a:solidFill>
                  <a:srgbClr val="CBD2D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BD2DE"/>
                </a:solidFill>
                <a:latin typeface="Apple SD Gothic Neo"/>
                <a:ea typeface="Apple SD Gothic Neo"/>
                <a:cs typeface="Apple SD Gothic Neo"/>
              </a:rPr>
              <a:t>• required speed feasibility</a:t>
            </a:r>
          </a:p>
          <a:p xmlns:a="http://schemas.openxmlformats.org/drawingml/2006/main">
            <a:pPr algn="l">
              <a:defRPr sz="1350" b="0">
                <a:solidFill>
                  <a:srgbClr val="CBD2D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BD2DE"/>
                </a:solidFill>
                <a:latin typeface="Apple SD Gothic Neo"/>
                <a:ea typeface="Apple SD Gothic Neo"/>
                <a:cs typeface="Apple SD Gothic Neo"/>
              </a:rPr>
              <a:t>• bootstrap 95% CI</a:t>
            </a:r>
          </a:p>
          <a:p xmlns:a="http://schemas.openxmlformats.org/drawingml/2006/main">
            <a:pPr algn="l">
              <a:defRPr sz="1350" b="0">
                <a:solidFill>
                  <a:srgbClr val="CBD2D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BD2DE"/>
                </a:solidFill>
                <a:latin typeface="Apple SD Gothic Neo"/>
                <a:ea typeface="Apple SD Gothic Neo"/>
                <a:cs typeface="Apple SD Gothic Neo"/>
              </a:rPr>
              <a:t>• fall context 직전 상태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627FAA-090A-4540-AD88-6AA87E3E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401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전체 median 하나는 쉬운 category가 어려운 실패를 숨길 수 있다.</a:t>
            </a:r>
          </a:p>
        </p:txBody>
      </p:sp>
    </p:spTree>
    <p:extLst>
      <p:ext uri="{BB962C8B-B14F-4D97-AF65-F5344CB8AC3E}">
        <p14:creationId xmlns:p14="http://schemas.microsoft.com/office/powerpoint/2010/main" val="20190151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FD7F08-91D2-4585-A20D-C560980E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K1 GOALPOSE · LEARNING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2AF16-912C-4D64-8036-CF8A1E0D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Clean · Perturbed · Stress를 섞지 않는다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1620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9B75E-D355-4CA2-A51B-7FF75880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12685-B603-49D8-B168-BE867FF0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34480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B1F20-D3B4-4F00-B55F-36BAF199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219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solidFill>
              <a:srgbClr val="DDF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6509F-771F-4846-9FDD-99D98D1E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rPr>
              <a:t>AUTHORITATIVE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86340-A6B2-4C58-BC67-997CD692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1 · Clean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4E273-AC7D-47AE-BDB6-8C75561A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30670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모델 선택의 권위 있는 gate</a:t>
            </a:r>
          </a:p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정확도 · heading · stop · falls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perturbation OFF</a:t>
            </a:r>
          </a:p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obs noise 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45CFE-C36C-4182-B1D0-C83F334C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34480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7763B-6E85-4357-8639-DF9D4FAC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14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8FF"/>
          </a:solidFill>
          <a:ln xmlns:a="http://schemas.openxmlformats.org/drawingml/2006/main" w="0">
            <a:solidFill>
              <a:srgbClr val="DDE8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F8E62-7E35-45ED-B48A-EC6EF53E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716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ROBUST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00667-56DC-4615-A9AE-9A0E3F9C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2 · Perturbed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1E3E8-4D3C-4E39-A0F1-D7D02C2B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24125"/>
            <a:ext cx="30670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외력/토크 조건</a:t>
            </a:r>
          </a:p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clean 대비 degradation 측정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정확도 +2 cm 이내인가?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8A118-45C0-40EB-9629-CACEEF75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6957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6FB2AA-2189-44A8-A54D-BACAF031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14500"/>
            <a:ext cx="1028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E9DD"/>
          </a:solidFill>
          <a:ln xmlns:a="http://schemas.openxmlformats.org/drawingml/2006/main" w="0">
            <a:solidFill>
              <a:srgbClr val="FBE9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45F1D-21F5-49B2-8437-71CEEC32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716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rPr>
              <a:t>DIAGNOSTIC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88585D-B75E-4FAB-B449-6E7C2491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1455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3 · Stress jitter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4015D3-EEB3-4653-9E65-5D89E3D6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33147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true goal을 매 step ±3 m</a:t>
            </a:r>
          </a:p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position gate는 제외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falls/env-min · upright share</a:t>
            </a:r>
          </a:p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|ω| p90 &lt; 3 · speed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9DEEBC-AD4B-4D26-B3BE-CF14BB9F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114014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556CD9-7992-4F4F-A0D5-E9BD5CCA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속도/path를 볼 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BF2471-12F7-4C86-997C-CC306435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95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body speed median / p90 / p99 / max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B73A58-0868-40BF-AADA-EFF1F35A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95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segment peak p50 / p90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26EA88-5734-4E68-B906-567D9DB5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101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commanded vs achieved bins · tracking ratio · path lag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F9D23A-BAE3-4314-AB36-D5D65906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89585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9E1E1"/>
          </a:solidFill>
          <a:ln xmlns:a="http://schemas.openxmlformats.org/drawingml/2006/main" w="0">
            <a:solidFill>
              <a:srgbClr val="F9E1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CF05E9-5D21-4B77-B767-61B2124E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9530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주의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0EB24A-11BF-418D-AF99-B2EFA368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11401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느리게 굳어 있어도 ‘안 넘어짐’으로 보일 수 있다 — 안정성과 속도를 함께 본다.</a:t>
            </a:r>
          </a:p>
        </p:txBody>
      </p:sp>
    </p:spTree>
    <p:extLst>
      <p:ext uri="{BB962C8B-B14F-4D97-AF65-F5344CB8AC3E}">
        <p14:creationId xmlns:p14="http://schemas.microsoft.com/office/powerpoint/2010/main" val="11984466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19A354-CAB9-4E84-B2A9-38E004A4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K1 GOALPOSE · LEARNING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937B9-BA85-4A64-89AF-309DFE4E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v8 / G4 SmoothTurn: 정확히 멈추는 E0를 ‘연속 전환’으로 확장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00050" y="11620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D3B18-3641-4E35-9176-91C2B330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7CDAA-4E5D-4865-A1A4-987F6DDB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4014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1E5C7-03CB-4C19-8CBD-C44E2D58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r_seq = 2 · (banked progress + ρ(e)) / 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D972C-D08A-47B8-B40E-B041704C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DC5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BDC5D1"/>
                </a:solidFill>
                <a:latin typeface="Apple SD Gothic Neo"/>
                <a:ea typeface="Apple SD Gothic Neo"/>
                <a:cs typeface="Apple SD Gothic Neo"/>
              </a:rPr>
              <a:t>e = d + λ·ρ(d)·|θ|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C3B95-88A1-4D58-A33A-AFFEF5F8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90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C5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DC5D1"/>
                </a:solidFill>
                <a:latin typeface="Apple SD Gothic Neo"/>
                <a:ea typeface="Apple SD Gothic Neo"/>
                <a:cs typeface="Apple SD Gothic Neo"/>
              </a:rPr>
              <a:t>관측 54 유지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B5329-8EFE-40A5-A1C3-F9BCAE4F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다음 목표 2개를 dead slots 4–9에 배치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16D71-DA48-4109-8384-633A0CB5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00126">
            <a:off x="1581707" y="3767138"/>
            <a:ext cx="178958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2E0B4-30A8-4DDD-93C3-F9BB1FA8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699874">
            <a:off x="3276600" y="35242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8A3D5-E36A-4398-9BE4-ABD29C8F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266"/>
          </a:solidFill>
          <a:ln xmlns:a="http://schemas.openxmlformats.org/drawingml/2006/main" w="0">
            <a:solidFill>
              <a:srgbClr val="1282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428F96-7A82-4E52-9C36-F2E7313D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3B837-DF4C-40F6-8AEA-61AF0225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76519">
            <a:off x="3904136" y="3967163"/>
            <a:ext cx="195485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85544-2C9B-4C22-A2F7-00E35725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76519">
            <a:off x="5705475" y="42862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A5834C-7B3C-4056-91B9-1851F9C5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796E4E-CAA0-424C-A84D-1F8DCDF3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956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12992C-584C-41BD-853F-7AF84FB3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88699">
            <a:off x="6313945" y="3910013"/>
            <a:ext cx="208823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49DB83-90A2-4A37-97DD-FD1778E4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11301">
            <a:off x="8229600" y="34099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BF333A-588F-4706-860A-30A74675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9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FF4349-854F-40C4-A632-59EAE96B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576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3CA095-819F-4367-82AE-B43487CD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194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8074FA-E957-4E4C-9DA6-3D4263C0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813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68DDF4-3631-4271-AFE8-6F96F06C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62300"/>
            <a:ext cx="2143125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C54B53-6B9C-493F-A0D0-32B7E0E6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5280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Double switch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99C9B0-73E5-4001-AC18-DD04BDEF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752850"/>
            <a:ext cx="1762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25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direct: 0.1 m / 5°</a:t>
            </a:r>
          </a:p>
          <a:p xmlns:a="http://schemas.openxmlformats.org/drawingml/2006/main">
            <a:pPr algn="l">
              <a:def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속도 조건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loose: 0.5 m / 60°</a:t>
            </a:r>
          </a:p>
          <a:p xmlns:a="http://schemas.openxmlformats.org/drawingml/2006/main">
            <a:pPr algn="l">
              <a:def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v,w &lt; 0.1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243039-0E43-4787-A535-4184154A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54102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68D667-6A80-4A54-9BDB-94752A5C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0065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특히 볼 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8D97D0-F583-4FDA-8CDB-2067E0F6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0225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sequence completion · bank rate · 목표당 시간 · 전환 전후 speed dip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144E59-9DF7-4A7B-8065-F5536A12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10150"/>
            <a:ext cx="581977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595D79-8494-43E4-B5C2-58B3644A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00650"/>
            <a:ext cx="5438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장단점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5C6B54-C541-47BD-B5C4-0154A65C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10225"/>
            <a:ext cx="5438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0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장점: warm-start 호환, stop-and-go 직접 개선  ·  단점: 전환 rule과 reward loophole 증가</a:t>
            </a:r>
          </a:p>
        </p:txBody>
      </p:sp>
    </p:spTree>
    <p:extLst>
      <p:ext uri="{BB962C8B-B14F-4D97-AF65-F5344CB8AC3E}">
        <p14:creationId xmlns:p14="http://schemas.microsoft.com/office/powerpoint/2010/main" val="16216644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1220DF-17B0-4D81-8F50-3BE3C0C0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K1 GOALPOSE · LEARNING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806E9-ED9B-4AC9-BA26-323C369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다음 G batch: E0@6200 위에서 네 질문을 각각 검증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00050" y="11620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2872B-3ECA-4905-8ABD-392BFFDB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D2176-6039-4EEA-A2EF-AE0F2C19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5610225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DDE8FF"/>
          </a:solidFill>
          <a:ln xmlns:a="http://schemas.openxmlformats.org/drawingml/2006/main" w="0">
            <a:solidFill>
              <a:srgbClr val="DDE8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515F6-F6DE-4D8A-A030-5F35470B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G1 · SPEED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C0AED-D6F0-488C-8B81-C9D0576D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path floor + dwell 0.35</a:t>
            </a:r>
          </a:p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speed×curvature grid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3257550" y="1771650"/>
            <a:ext cx="0" cy="1314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48AA06-CAB2-4D99-99EC-23747B8A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71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성공 조건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1E5AA-D4AD-4BBC-AF70-B34DA5D3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3360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pos ≤5 cm 유지</a:t>
            </a:r>
          </a:p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segment p90 &gt;1.37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871B8-A574-4676-8F6E-26A76ED5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956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DFC19-4186-4235-A2E5-C1CBCBFC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527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미평가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330B0-8910-4E52-A017-E38D0DE3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5610225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solidFill>
              <a:srgbClr val="DDF4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B99D8-E01C-4F5C-BF55-463C5B0D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14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rPr>
              <a:t>G2 · ROBUST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AA5969-EA04-479C-B419-53CDA19B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17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2 disturbances + flicker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9048750" y="1771650"/>
            <a:ext cx="0" cy="1314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1F83CF-BD28-4509-A672-60CBDAAE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71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성공 조건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7B2E30-9803-42DB-823A-3A66B61F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3360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clean +2 cm 이내</a:t>
            </a:r>
          </a:p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stress |ω| p90 &lt;3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3DEE8-8D31-48C8-87BF-B60FCB51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956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860307-CB5E-4870-AC1D-A623D215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rPr>
              <a:t>미평가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1284D7-EA0B-452D-89FA-6A0CC8CE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610225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4F198D-F419-4DD4-966F-87909F47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G3 · FULL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0654F8-3F9B-4522-B436-FE660C1F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G1+G2+protection</a:t>
            </a:r>
          </a:p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scripted arm swing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3257550" y="3981450"/>
            <a:ext cx="0" cy="1314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A95DC7-DEF5-4FE0-A45B-715F8FD3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성공 조건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97D07A-FA33-420C-8BA2-36C8DC8E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4340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G1과 G2 조건 동시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158954-C00F-4762-8E64-3DA4A9CB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054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73D92D-FBDD-4A72-87A9-4E788E31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1625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미평가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A07E12-69C7-4DF8-B523-20873589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5610225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BE9DD"/>
          </a:solidFill>
          <a:ln xmlns:a="http://schemas.openxmlformats.org/drawingml/2006/main" w="0">
            <a:solidFill>
              <a:srgbClr val="FBE9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D77D19-42CA-44A4-BCA9-73570079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243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rPr>
              <a:t>G4 · SMOOTHTURN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C59B6F-5A06-49F3-A2AA-4802C0B5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1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sequential 4-goal stack</a:t>
            </a:r>
          </a:p>
        </p:txBody>
      </p:sp>
      <p:cxnSp>
        <p:nvCxnSpPr>
          <p:cNvPr id="69" name=""/>
          <p:cNvCxnSpPr/>
          <p:nvPr/>
        </p:nvCxnSpPr>
        <p:spPr>
          <a:xfrm xmlns:a="http://schemas.openxmlformats.org/drawingml/2006/main">
            <a:off x="9048750" y="3981450"/>
            <a:ext cx="0" cy="1314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654E79-A014-48EE-AE3F-DC27B4FC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814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성공 조건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A07285-2FED-4B7F-B92D-6AE243A7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4340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bank/completion/time</a:t>
            </a:r>
          </a:p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vs E0 single target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47D27A-C32E-490A-9416-C6FDDBB0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1054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01AF7A-8CF0-4A4E-8DA7-B50DBEE9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625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rPr>
              <a:t>미평가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AD8699-E1AB-48A4-92E5-2E00FF9C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1401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설계 원칙: G3 통합은 G1/G2 중 채택된 요소가 확인된 뒤 마지막에</a:t>
            </a:r>
          </a:p>
        </p:txBody>
      </p:sp>
    </p:spTree>
    <p:extLst>
      <p:ext uri="{BB962C8B-B14F-4D97-AF65-F5344CB8AC3E}">
        <p14:creationId xmlns:p14="http://schemas.microsoft.com/office/powerpoint/2010/main" val="11330024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BC2378-8AC0-4056-B716-AEDB5A40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K1 GOALPOSE · LEARNING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0B28C-07EE-4047-B71E-0B53A926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현재 상태: G 결과 없음 · G4 launch blocker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00050" y="11620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915A1-1C2E-4237-8158-DCFF4510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8AF9E-C8AF-46D0-94C6-1595DB82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54102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9E1E1"/>
          </a:solidFill>
          <a:ln xmlns:a="http://schemas.openxmlformats.org/drawingml/2006/main" w="0">
            <a:solidFill>
              <a:srgbClr val="F9E1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C0669-0C13-4BA5-ABF3-366B3E38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3661D-8E50-4A62-8AE6-C88D343A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BLOCKER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D9887-38EC-421B-AA9D-F108316D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28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V8_ARMS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A5154-F6A5-4E65-A371-394802B6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{ G4_smoothturn: {} 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07933-DF39-4E33-8F4E-A0F4A69F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24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ALL_ARMS = ARMS + F_ARMS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0545B-8ED4-4596-8149-B90B09E0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→ --only G4는 ALL_ARMS lookup에서 KeyError 위험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98717-F1E1-42F0-80C7-2BEA239F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5610225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4CD67-8C12-4D4E-9E7F-10AEDEF4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526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재현성 체크리스트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A1939-75FF-4DD3-AFFC-4C77EE03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05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266"/>
          </a:solidFill>
          <a:ln xmlns:a="http://schemas.openxmlformats.org/drawingml/2006/main" w="0">
            <a:solidFill>
              <a:srgbClr val="1282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2705B4-8E61-41BF-A25B-6D439F45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050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C488B-8A4D-49D1-9589-6B7CE283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1D7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1D7E0"/>
                </a:solidFill>
                <a:latin typeface="Apple SD Gothic Neo"/>
                <a:ea typeface="Apple SD Gothic Neo"/>
                <a:cs typeface="Apple SD Gothic Neo"/>
              </a:rPr>
              <a:t>frozen config.yaml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00C304-70A6-4140-8813-02AF34F0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24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266"/>
          </a:solidFill>
          <a:ln xmlns:a="http://schemas.openxmlformats.org/drawingml/2006/main" w="0">
            <a:solidFill>
              <a:srgbClr val="1282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B15D1E-A61B-4011-851E-75452F87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24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E75297-0773-4FD0-AC03-608A34D2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860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1D7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1D7E0"/>
                </a:solidFill>
                <a:latin typeface="Apple SD Gothic Neo"/>
                <a:ea typeface="Apple SD Gothic Neo"/>
                <a:cs typeface="Apple SD Gothic Neo"/>
              </a:rPr>
              <a:t>checkpoint 경로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3313D7-C68F-4EE4-984A-83B3926E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266"/>
          </a:solidFill>
          <a:ln xmlns:a="http://schemas.openxmlformats.org/drawingml/2006/main" w="0">
            <a:solidFill>
              <a:srgbClr val="1282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9AF3B3-E1A1-4790-A3E9-1DE55E04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D8A7A1-9133-4D4B-AAD3-AF5D21A4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1D7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1D7E0"/>
                </a:solidFill>
                <a:latin typeface="Apple SD Gothic Neo"/>
                <a:ea typeface="Apple SD Gothic Neo"/>
                <a:cs typeface="Apple SD Gothic Neo"/>
              </a:rPr>
              <a:t>ENV_CODE_SHA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B9D1B0-2792-4864-AE20-0EAD928C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62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266"/>
          </a:solidFill>
          <a:ln xmlns:a="http://schemas.openxmlformats.org/drawingml/2006/main" w="0">
            <a:solidFill>
              <a:srgbClr val="12826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06A7E5-1E1C-491C-80DF-3126D0EE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623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807A12-E4DD-423E-A284-D009325C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1D7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1D7E0"/>
                </a:solidFill>
                <a:latin typeface="Apple SD Gothic Neo"/>
                <a:ea typeface="Apple SD Gothic Neo"/>
                <a:cs typeface="Apple SD Gothic Neo"/>
              </a:rPr>
              <a:t>seed + eval command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4EA826-AA31-448A-9D21-AED59C0B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266"/>
          </a:solidFill>
          <a:ln xmlns:a="http://schemas.openxmlformats.org/drawingml/2006/main" w="0">
            <a:solidFill>
              <a:srgbClr val="1282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02B02C-BBAA-47A1-AEE0-831F4CC9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B9CD01-314E-418B-984A-0C4BBB4E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1D7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1D7E0"/>
                </a:solidFill>
                <a:latin typeface="Apple SD Gothic Neo"/>
                <a:ea typeface="Apple SD Gothic Neo"/>
                <a:cs typeface="Apple SD Gothic Neo"/>
              </a:rPr>
              <a:t>own-run config 검증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7D0A66-C656-4277-8752-4DC05DDE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14014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837892-6780-4153-8EC3-3F01A812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먼저 할 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7150F5-9675-4FFD-99FC-A748497B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101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1) G4 registry 수정 + smoke  →  2) G1/G2/G4 독립 학습  →  3) 표준 clean 평가  →  4) perturbed/stress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A945DC-D219-4D3E-B951-4C9E8CAB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054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코드가 최신이라는 사실보다, 학습 당시 코드와 평가 코드가 같은지가 더 중요하다.</a:t>
            </a:r>
          </a:p>
        </p:txBody>
      </p:sp>
    </p:spTree>
    <p:extLst>
      <p:ext uri="{BB962C8B-B14F-4D97-AF65-F5344CB8AC3E}">
        <p14:creationId xmlns:p14="http://schemas.microsoft.com/office/powerpoint/2010/main" val="21016076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2B36AE-E300-431F-AAC9-8D37AAFB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K1 GOALPOSE · LEARNING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6BBDA-D418-476D-9F91-1B451890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이번 학습 과정에서 실제로 배운 다섯 가지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00050" y="11620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C3C38-53B3-40C5-A84F-3FAAF385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C95A3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B64DC-CEF4-4828-88BA-D054254F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28266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5EBBA-25BA-4567-93C3-2AA565BA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66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종착 상태를 보상하라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9A1BE-CF41-4B93-8DCC-1E3F57EE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9542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goal_reached가 가장 큰 단일 개선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1123950" y="2019300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CCB63-F632-4075-A077-6EA0224C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6E604-432C-4A7F-B9F6-EB8A2BA7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86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한 번에 하나씩 바꿔라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BFBFA-224B-4511-AF2E-52A29D34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145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armD는 성능과 원인을 동시에 잃음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123950" y="2838450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B1DE7-0758-4352-9AD9-F076911D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F6B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4BB03-ADF8-4036-B40F-347D99D6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결과와 원인을 구분하라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7D7A69-DD89-443D-99C3-AC04BE5F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3372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E0는 best지만 symmetry 단독 효과는 미확인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1123950" y="3657600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4014D3-0631-4B4E-B96A-C0F93FD9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C86222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A90C1-B22C-4874-83A6-BBE0C5A2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평가 계보를 저장하라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3DA3DB-6C46-49AC-929A-477B2E73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528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E1/E2/V7의 숫자를 무효화한 code/config drift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1123950" y="4476750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325FF2-ADB4-4E68-AF2D-118D6551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C13C3C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32014-3EEB-4D4B-93AF-3990D5BC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43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안전은 평균이 아니다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C9311F-0B16-4179-A4E6-1931B4B6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7202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D69"/>
                </a:solidFill>
                <a:latin typeface="Apple SD Gothic Neo"/>
                <a:ea typeface="Apple SD Gothic Neo"/>
                <a:cs typeface="Apple SD Gothic Neo"/>
              </a:rPr>
              <a:t>E0의 falls=2는 여전히 final blocker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1123950" y="5295900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034D89-52C3-4317-9078-028A81A5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4014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498E4B-16FD-464D-88A4-B86DE624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29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다음 발표의 목표: ‘더 좋은 숫자’가 아니라, G1/G2/G4의 질문에 각각 유효한 답을 만드는 것</a:t>
            </a:r>
          </a:p>
        </p:txBody>
      </p:sp>
    </p:spTree>
    <p:extLst>
      <p:ext uri="{BB962C8B-B14F-4D97-AF65-F5344CB8AC3E}">
        <p14:creationId xmlns:p14="http://schemas.microsoft.com/office/powerpoint/2010/main" val="12001464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2026-07-28T02:52:16.4610000Z</dcterms:created>
  <dcterms:modified xsi:type="dcterms:W3CDTF">2026-07-28T02:52:16.4610000Z</dcterms:modified>
</coreProperties>
</file>